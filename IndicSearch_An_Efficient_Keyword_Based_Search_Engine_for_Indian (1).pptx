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Geist" panose="020B0604020202020204" charset="0"/>
      <p:regular r:id="rId16"/>
    </p:embeddedFont>
    <p:embeddedFont>
      <p:font typeface="Geist Bold" panose="020B0604020202020204" charset="0"/>
      <p:regular r:id="rId17"/>
    </p:embeddedFont>
    <p:embeddedFont>
      <p:font typeface="Geist Medium" panose="020B0604020202020204" charset="0"/>
      <p:regular r:id="rId18"/>
    </p:embeddedFont>
    <p:embeddedFont>
      <p:font typeface="Geist Mono" panose="020B0604020202020204" charset="0"/>
      <p:regular r:id="rId19"/>
    </p:embeddedFont>
    <p:embeddedFont>
      <p:font typeface="Geist Mono Medium" panose="020B0604020202020204" charset="0"/>
      <p:regular r:id="rId20"/>
    </p:embeddedFont>
    <p:embeddedFont>
      <p:font typeface="Geist Semi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25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faculty and evaluators. We present IndicSearch, a keyword-based search engine designed specifically for Indian-language Wikipedia content. The core objective of this project is demonstrating how fundamental data structures and algorithms—including HashMaps, Inverted Indexes, Tries, and Merge Sort—solve real-world challenges in multilingual information retrieval.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abstract highlights our architectural pipeline. We couple high-level Wikipedia API document retrieval with core algorithmic components: Trie-based prefix completion, Inverted Index mapping, and Merge Sort ranking by keyword frequency, all wrapped in a clean web interface.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formalize the problem. Scanning documents linearly is computationally impractical. Furthermore, Indian languages require precise Unicode handling so matras and compound glyphs tokenize accurately. Our project addresses these challenges directly using foundational computer science data structures.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outlines the eight functional modules. Key highlights include our dedicated text preprocessing engine for Indian script tokens, the dual search and autocomplete flow, and transparent diagnostic metrics displayed directly in the web UI for evaluation.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eight project objectives across four categories: Core system, Language handling, Indexing &amp; UX, and Evaluation. Each objective directly correlates with an implemented algorithm or software module presented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architectural diagram illustrates the runtime flow. The main sequence covers keyword entry, language selection, text preprocessing, document retrieval, indexing, scoring, ranking, and results. The Trie side-flow provides search suggestions.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IndicSearch accomplishes all stated project goals, verifying how textbook DSA techniques successfully underpin real-world multilingual search applications. In future iterations, we look forward to incorporating local corpus indexing, TF-IDF weighting, and LRU caching.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F5"/>
          </a:solidFill>
          <a:ln/>
        </p:spPr>
      </p:sp>
      <p:sp>
        <p:nvSpPr>
          <p:cNvPr id="3" name="Shape 1"/>
          <p:cNvSpPr/>
          <p:nvPr/>
        </p:nvSpPr>
        <p:spPr>
          <a:xfrm>
            <a:off x="0" y="0"/>
            <a:ext cx="12191695" cy="6858000"/>
          </a:xfrm>
          <a:prstGeom prst="rect">
            <a:avLst/>
          </a:prstGeom>
          <a:solidFill>
            <a:srgbClr val="F7FAFB"/>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09600"/>
            <a:ext cx="6654634" cy="1709738"/>
          </a:xfrm>
          <a:prstGeom prst="rect">
            <a:avLst/>
          </a:prstGeom>
          <a:noFill/>
          <a:ln/>
        </p:spPr>
        <p:txBody>
          <a:bodyPr wrap="square" lIns="0" tIns="0" rIns="0" bIns="0" rtlCol="0" anchor="t">
            <a:normAutofit lnSpcReduction="10000"/>
          </a:bodyPr>
          <a:lstStyle/>
          <a:p>
            <a:pPr marL="0" indent="0" algn="l">
              <a:lnSpc>
                <a:spcPct val="85000"/>
              </a:lnSpc>
              <a:buNone/>
            </a:pPr>
            <a:r>
              <a:rPr lang="en-US" sz="4400" kern="0" spc="-132" dirty="0">
                <a:solidFill>
                  <a:srgbClr val="0F1E26"/>
                </a:solidFill>
                <a:latin typeface="Geist Medium" pitchFamily="34" charset="0"/>
                <a:ea typeface="Geist Medium" pitchFamily="34" charset="-122"/>
                <a:cs typeface="Geist Medium" pitchFamily="34" charset="-120"/>
              </a:rPr>
              <a:t>IndicSearch: An Efficient Keyword-Based Search Engine</a:t>
            </a:r>
            <a:endParaRPr lang="en-US" sz="4400" dirty="0"/>
          </a:p>
        </p:txBody>
      </p:sp>
      <p:sp>
        <p:nvSpPr>
          <p:cNvPr id="3" name="Text 1"/>
          <p:cNvSpPr/>
          <p:nvPr/>
        </p:nvSpPr>
        <p:spPr>
          <a:xfrm>
            <a:off x="609585" y="2497138"/>
            <a:ext cx="6654634" cy="626070"/>
          </a:xfrm>
          <a:prstGeom prst="rect">
            <a:avLst/>
          </a:prstGeom>
          <a:noFill/>
          <a:ln/>
        </p:spPr>
        <p:txBody>
          <a:bodyPr wrap="square" lIns="0" tIns="0" rIns="0" bIns="0" rtlCol="0" anchor="t">
            <a:normAutofit/>
          </a:bodyPr>
          <a:lstStyle/>
          <a:p>
            <a:pPr marL="0" indent="0" algn="l">
              <a:lnSpc>
                <a:spcPct val="121000"/>
              </a:lnSpc>
              <a:buNone/>
            </a:pPr>
            <a:r>
              <a:rPr lang="en-US" sz="1700" dirty="0">
                <a:solidFill>
                  <a:srgbClr val="2A3A43"/>
                </a:solidFill>
                <a:latin typeface="Geist" pitchFamily="34" charset="0"/>
                <a:ea typeface="Geist" pitchFamily="34" charset="-122"/>
                <a:cs typeface="Geist" pitchFamily="34" charset="-120"/>
              </a:rPr>
              <a:t>A DSA-driven search system for Indian-language Wikipedia with Unicode processing and ranked retrieval.</a:t>
            </a:r>
            <a:endParaRPr lang="en-US" sz="1700" dirty="0"/>
          </a:p>
        </p:txBody>
      </p:sp>
      <p:sp>
        <p:nvSpPr>
          <p:cNvPr id="4" name="Shape 2"/>
          <p:cNvSpPr/>
          <p:nvPr/>
        </p:nvSpPr>
        <p:spPr>
          <a:xfrm>
            <a:off x="609585" y="3326408"/>
            <a:ext cx="2195854" cy="19050"/>
          </a:xfrm>
          <a:prstGeom prst="roundRect">
            <a:avLst>
              <a:gd name="adj" fmla="val 49999"/>
            </a:avLst>
          </a:prstGeom>
          <a:solidFill>
            <a:srgbClr val="C9D6DB"/>
          </a:solidFill>
          <a:ln/>
        </p:spPr>
      </p:sp>
      <p:sp>
        <p:nvSpPr>
          <p:cNvPr id="5" name="Text 3"/>
          <p:cNvSpPr/>
          <p:nvPr/>
        </p:nvSpPr>
        <p:spPr>
          <a:xfrm>
            <a:off x="609585" y="3567708"/>
            <a:ext cx="7111822"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PROJECT TEAM</a:t>
            </a:r>
            <a:endParaRPr lang="en-US" sz="1100" dirty="0"/>
          </a:p>
        </p:txBody>
      </p:sp>
      <p:sp>
        <p:nvSpPr>
          <p:cNvPr id="6" name="Text 4"/>
          <p:cNvSpPr/>
          <p:nvPr/>
        </p:nvSpPr>
        <p:spPr>
          <a:xfrm>
            <a:off x="609585" y="3908028"/>
            <a:ext cx="6654634" cy="862211"/>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2520030001</a:t>
            </a:r>
            <a:r>
              <a:rPr lang="en-US" sz="1400" dirty="0">
                <a:solidFill>
                  <a:srgbClr val="2A3A43"/>
                </a:solidFill>
                <a:latin typeface="Geist" pitchFamily="34" charset="0"/>
                <a:ea typeface="Geist" pitchFamily="34" charset="-122"/>
                <a:cs typeface="Geist" pitchFamily="34" charset="-120"/>
              </a:rPr>
              <a:t> — M. ASWITHA PATEL</a:t>
            </a:r>
            <a:endParaRPr lang="en-US" sz="1400" dirty="0"/>
          </a:p>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2520030098</a:t>
            </a:r>
            <a:r>
              <a:rPr lang="en-US" sz="1400" dirty="0">
                <a:solidFill>
                  <a:srgbClr val="2A3A43"/>
                </a:solidFill>
                <a:latin typeface="Geist" pitchFamily="34" charset="0"/>
                <a:ea typeface="Geist" pitchFamily="34" charset="-122"/>
                <a:cs typeface="Geist" pitchFamily="34" charset="-120"/>
              </a:rPr>
              <a:t> — G. SUSHMA SREE</a:t>
            </a:r>
            <a:endParaRPr lang="en-US" sz="1400" dirty="0"/>
          </a:p>
          <a:p>
            <a:pPr marL="284480" indent="-284480" algn="l">
              <a:lnSpc>
                <a:spcPct val="121000"/>
              </a:lnSpc>
              <a:buSzPct val="100000"/>
              <a:buChar char="•"/>
            </a:pPr>
            <a:r>
              <a:rPr lang="en-US" sz="1400" b="1" dirty="0">
                <a:solidFill>
                  <a:srgbClr val="2A3A43"/>
                </a:solidFill>
                <a:latin typeface="Geist Bold" pitchFamily="34" charset="0"/>
                <a:ea typeface="Geist Bold" pitchFamily="34" charset="-122"/>
                <a:cs typeface="Geist Bold" pitchFamily="34" charset="-120"/>
              </a:rPr>
              <a:t>2520030414</a:t>
            </a:r>
            <a:r>
              <a:rPr lang="en-US" sz="1400" dirty="0">
                <a:solidFill>
                  <a:srgbClr val="2A3A43"/>
                </a:solidFill>
                <a:latin typeface="Geist" pitchFamily="34" charset="0"/>
                <a:ea typeface="Geist" pitchFamily="34" charset="-122"/>
                <a:cs typeface="Geist" pitchFamily="34" charset="-120"/>
              </a:rPr>
              <a:t> — N. YISHNAANI</a:t>
            </a:r>
            <a:endParaRPr lang="en-US" sz="1400" dirty="0"/>
          </a:p>
        </p:txBody>
      </p:sp>
      <p:pic>
        <p:nvPicPr>
          <p:cNvPr id="8" name="Image 0" descr="preencoded.png"/>
          <p:cNvPicPr>
            <a:picLocks noChangeAspect="1"/>
          </p:cNvPicPr>
          <p:nvPr/>
        </p:nvPicPr>
        <p:blipFill>
          <a:blip r:embed="rId3"/>
          <a:stretch>
            <a:fillRect/>
          </a:stretch>
        </p:blipFill>
        <p:spPr>
          <a:xfrm>
            <a:off x="7721407" y="0"/>
            <a:ext cx="447028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EXECUTIVE OVERVIEW</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Abstract</a:t>
            </a:r>
            <a:endParaRPr lang="en-US" sz="3400" dirty="0"/>
          </a:p>
        </p:txBody>
      </p:sp>
      <p:sp>
        <p:nvSpPr>
          <p:cNvPr id="4" name="Text 2"/>
          <p:cNvSpPr/>
          <p:nvPr/>
        </p:nvSpPr>
        <p:spPr>
          <a:xfrm>
            <a:off x="609585" y="1540073"/>
            <a:ext cx="10972526" cy="561181"/>
          </a:xfrm>
          <a:prstGeom prst="rect">
            <a:avLst/>
          </a:prstGeom>
          <a:noFill/>
          <a:ln/>
        </p:spPr>
        <p:txBody>
          <a:bodyPr wrap="square" lIns="0" tIns="0" rIns="0" bIns="0" rtlCol="0" anchor="t">
            <a:normAutofit/>
          </a:bodyPr>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IndicSearch retrieves relevant information from Indian-language Wikipedia through Unicode-aware preprocessing, keyword matching, and frequency-based ranking.</a:t>
            </a:r>
            <a:endParaRPr lang="en-US" sz="1700" dirty="0"/>
          </a:p>
        </p:txBody>
      </p:sp>
      <p:sp>
        <p:nvSpPr>
          <p:cNvPr id="5" name="Text 3"/>
          <p:cNvSpPr/>
          <p:nvPr/>
        </p:nvSpPr>
        <p:spPr>
          <a:xfrm>
            <a:off x="609585" y="2304455"/>
            <a:ext cx="2743131"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STORAGE &amp; INDEX</a:t>
            </a:r>
            <a:endParaRPr lang="en-US" sz="1100" dirty="0"/>
          </a:p>
        </p:txBody>
      </p:sp>
      <p:sp>
        <p:nvSpPr>
          <p:cNvPr id="6" name="Text 4"/>
          <p:cNvSpPr/>
          <p:nvPr/>
        </p:nvSpPr>
        <p:spPr>
          <a:xfrm>
            <a:off x="609585" y="2559050"/>
            <a:ext cx="2539936"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HashMap &amp; Inverted Index</a:t>
            </a:r>
            <a:endParaRPr lang="en-US" sz="1500" dirty="0"/>
          </a:p>
        </p:txBody>
      </p:sp>
      <p:sp>
        <p:nvSpPr>
          <p:cNvPr id="7" name="Text 5"/>
          <p:cNvSpPr/>
          <p:nvPr/>
        </p:nvSpPr>
        <p:spPr>
          <a:xfrm>
            <a:off x="609585" y="2914650"/>
            <a:ext cx="2539936"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Structured keyword-to-document posting lists enable instant candidate lookup without sequential corpus scanning.</a:t>
            </a:r>
            <a:endParaRPr lang="en-US" sz="1200" dirty="0"/>
          </a:p>
        </p:txBody>
      </p:sp>
      <p:sp>
        <p:nvSpPr>
          <p:cNvPr id="8" name="Text 6"/>
          <p:cNvSpPr/>
          <p:nvPr/>
        </p:nvSpPr>
        <p:spPr>
          <a:xfrm>
            <a:off x="3555911"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AUTOCOMPLETE</a:t>
            </a:r>
            <a:endParaRPr lang="en-US" sz="1100" dirty="0"/>
          </a:p>
        </p:txBody>
      </p:sp>
      <p:sp>
        <p:nvSpPr>
          <p:cNvPr id="9" name="Text 7"/>
          <p:cNvSpPr/>
          <p:nvPr/>
        </p:nvSpPr>
        <p:spPr>
          <a:xfrm>
            <a:off x="3555911" y="2559050"/>
            <a:ext cx="2336742"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Trie Prefix Engine</a:t>
            </a:r>
            <a:endParaRPr lang="en-US" sz="1500" dirty="0"/>
          </a:p>
        </p:txBody>
      </p:sp>
      <p:sp>
        <p:nvSpPr>
          <p:cNvPr id="10" name="Text 8"/>
          <p:cNvSpPr/>
          <p:nvPr/>
        </p:nvSpPr>
        <p:spPr>
          <a:xfrm>
            <a:off x="3555911" y="2914650"/>
            <a:ext cx="2336742"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Retrieves real-time query suggestions dynamically as users type Indian-language script prefixes.</a:t>
            </a:r>
            <a:endParaRPr lang="en-US" sz="1200" dirty="0"/>
          </a:p>
        </p:txBody>
      </p:sp>
      <p:sp>
        <p:nvSpPr>
          <p:cNvPr id="11" name="Text 9"/>
          <p:cNvSpPr/>
          <p:nvPr/>
        </p:nvSpPr>
        <p:spPr>
          <a:xfrm>
            <a:off x="6299042"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SCORING &amp; SORT</a:t>
            </a:r>
            <a:endParaRPr lang="en-US" sz="1100" dirty="0"/>
          </a:p>
        </p:txBody>
      </p:sp>
      <p:sp>
        <p:nvSpPr>
          <p:cNvPr id="12" name="Text 10"/>
          <p:cNvSpPr/>
          <p:nvPr/>
        </p:nvSpPr>
        <p:spPr>
          <a:xfrm>
            <a:off x="6299042" y="2559050"/>
            <a:ext cx="2336742"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 Ranking</a:t>
            </a:r>
            <a:endParaRPr lang="en-US" sz="1500" dirty="0"/>
          </a:p>
        </p:txBody>
      </p:sp>
      <p:sp>
        <p:nvSpPr>
          <p:cNvPr id="13" name="Text 11"/>
          <p:cNvSpPr/>
          <p:nvPr/>
        </p:nvSpPr>
        <p:spPr>
          <a:xfrm>
            <a:off x="6299042" y="2914650"/>
            <a:ext cx="2336742" cy="822722"/>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Orders retrieved documents deterministically in </a:t>
            </a:r>
            <a:r>
              <a:rPr lang="en-US" sz="1150" i="1" dirty="0">
                <a:solidFill>
                  <a:srgbClr val="55656E"/>
                </a:solidFill>
                <a:latin typeface="Consolas" pitchFamily="34" charset="0"/>
                <a:ea typeface="Consolas" pitchFamily="34" charset="-122"/>
                <a:cs typeface="Consolas" pitchFamily="34" charset="-120"/>
              </a:rPr>
              <a:t>     </a:t>
            </a:r>
            <a:r>
              <a:rPr lang="en-US" sz="1200" dirty="0">
                <a:solidFill>
                  <a:srgbClr val="55656E"/>
                </a:solidFill>
                <a:latin typeface="Geist" pitchFamily="34" charset="0"/>
                <a:ea typeface="Geist" pitchFamily="34" charset="-122"/>
                <a:cs typeface="Geist" pitchFamily="34" charset="-120"/>
              </a:rPr>
              <a:t> time by keyword occurrence frequency.</a:t>
            </a:r>
            <a:endParaRPr lang="en-US" sz="1200" dirty="0"/>
          </a:p>
        </p:txBody>
      </p:sp>
      <p:pic>
        <p:nvPicPr>
          <p:cNvPr id="14" name="Image 0" descr="preencoded.png"/>
          <p:cNvPicPr>
            <a:picLocks noChangeAspect="1"/>
          </p:cNvPicPr>
          <p:nvPr/>
        </p:nvPicPr>
        <p:blipFill>
          <a:blip r:embed="rId3"/>
          <a:stretch>
            <a:fillRect/>
          </a:stretch>
        </p:blipFill>
        <p:spPr>
          <a:xfrm>
            <a:off x="7650963" y="3139380"/>
            <a:ext cx="653934" cy="185043"/>
          </a:xfrm>
          <a:prstGeom prst="rect">
            <a:avLst/>
          </a:prstGeom>
        </p:spPr>
      </p:pic>
      <p:sp>
        <p:nvSpPr>
          <p:cNvPr id="15" name="Text 12"/>
          <p:cNvSpPr/>
          <p:nvPr/>
        </p:nvSpPr>
        <p:spPr>
          <a:xfrm>
            <a:off x="9042174" y="2304455"/>
            <a:ext cx="2539936"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USER INTERFACE</a:t>
            </a:r>
            <a:endParaRPr lang="en-US" sz="1100" dirty="0"/>
          </a:p>
        </p:txBody>
      </p:sp>
      <p:sp>
        <p:nvSpPr>
          <p:cNvPr id="16" name="Text 13"/>
          <p:cNvSpPr/>
          <p:nvPr/>
        </p:nvSpPr>
        <p:spPr>
          <a:xfrm>
            <a:off x="9042174" y="2559050"/>
            <a:ext cx="2539936"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Interactive Web Client</a:t>
            </a:r>
            <a:endParaRPr lang="en-US" sz="1500" dirty="0"/>
          </a:p>
        </p:txBody>
      </p:sp>
      <p:sp>
        <p:nvSpPr>
          <p:cNvPr id="17" name="Text 14"/>
          <p:cNvSpPr/>
          <p:nvPr/>
        </p:nvSpPr>
        <p:spPr>
          <a:xfrm>
            <a:off x="9042174" y="2914650"/>
            <a:ext cx="2539936" cy="617041"/>
          </a:xfrm>
          <a:prstGeom prst="rect">
            <a:avLst/>
          </a:prstGeom>
          <a:noFill/>
          <a:ln/>
        </p:spPr>
        <p:txBody>
          <a:bodyPr wrap="square" lIns="0" tIns="0" rIns="0" bIns="0" rtlCol="0" anchor="t">
            <a:normAutofit fontScale="92500"/>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A clean frontend facilitating query input, language selection, ranked snippets, and live execution metrics.</a:t>
            </a:r>
            <a:endParaRPr lang="en-US" sz="1200" dirty="0"/>
          </a:p>
        </p:txBody>
      </p:sp>
      <p:sp>
        <p:nvSpPr>
          <p:cNvPr id="18" name="Text 15"/>
          <p:cNvSpPr/>
          <p:nvPr/>
        </p:nvSpPr>
        <p:spPr>
          <a:xfrm>
            <a:off x="609585" y="4802188"/>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END-TO-END PIPELINE ARCHITECTURE</a:t>
            </a:r>
            <a:endParaRPr lang="en-US" sz="1100" dirty="0"/>
          </a:p>
        </p:txBody>
      </p:sp>
      <p:sp>
        <p:nvSpPr>
          <p:cNvPr id="19" name="Text 16"/>
          <p:cNvSpPr/>
          <p:nvPr/>
        </p:nvSpPr>
        <p:spPr>
          <a:xfrm>
            <a:off x="609585" y="5142508"/>
            <a:ext cx="805239"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01</a:t>
            </a:r>
            <a:endParaRPr lang="en-US" sz="1400" dirty="0"/>
          </a:p>
        </p:txBody>
      </p:sp>
      <p:sp>
        <p:nvSpPr>
          <p:cNvPr id="20" name="Shape 17"/>
          <p:cNvSpPr/>
          <p:nvPr/>
        </p:nvSpPr>
        <p:spPr>
          <a:xfrm>
            <a:off x="609585" y="5391348"/>
            <a:ext cx="1701757" cy="19050"/>
          </a:xfrm>
          <a:prstGeom prst="rect">
            <a:avLst/>
          </a:prstGeom>
          <a:solidFill>
            <a:srgbClr val="0B5C8E"/>
          </a:solidFill>
          <a:ln/>
        </p:spPr>
      </p:sp>
      <p:sp>
        <p:nvSpPr>
          <p:cNvPr id="21" name="Text 18"/>
          <p:cNvSpPr/>
          <p:nvPr/>
        </p:nvSpPr>
        <p:spPr>
          <a:xfrm>
            <a:off x="609585"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User Query</a:t>
            </a:r>
            <a:endParaRPr lang="en-US" sz="1500" dirty="0"/>
          </a:p>
        </p:txBody>
      </p:sp>
      <p:sp>
        <p:nvSpPr>
          <p:cNvPr id="22" name="Text 19"/>
          <p:cNvSpPr/>
          <p:nvPr/>
        </p:nvSpPr>
        <p:spPr>
          <a:xfrm>
            <a:off x="609585"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Target language &amp; terms</a:t>
            </a:r>
            <a:endParaRPr lang="en-US" sz="1200" dirty="0"/>
          </a:p>
        </p:txBody>
      </p:sp>
      <p:sp>
        <p:nvSpPr>
          <p:cNvPr id="23" name="Text 20"/>
          <p:cNvSpPr/>
          <p:nvPr/>
        </p:nvSpPr>
        <p:spPr>
          <a:xfrm>
            <a:off x="2463738" y="5142508"/>
            <a:ext cx="845223"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02</a:t>
            </a:r>
            <a:endParaRPr lang="en-US" sz="1400" dirty="0"/>
          </a:p>
        </p:txBody>
      </p:sp>
      <p:sp>
        <p:nvSpPr>
          <p:cNvPr id="24" name="Shape 21"/>
          <p:cNvSpPr/>
          <p:nvPr/>
        </p:nvSpPr>
        <p:spPr>
          <a:xfrm>
            <a:off x="2463738" y="5391348"/>
            <a:ext cx="1701757" cy="19050"/>
          </a:xfrm>
          <a:prstGeom prst="rect">
            <a:avLst/>
          </a:prstGeom>
          <a:solidFill>
            <a:srgbClr val="0B5C8E"/>
          </a:solidFill>
          <a:ln/>
        </p:spPr>
      </p:sp>
      <p:sp>
        <p:nvSpPr>
          <p:cNvPr id="25" name="Text 22"/>
          <p:cNvSpPr/>
          <p:nvPr/>
        </p:nvSpPr>
        <p:spPr>
          <a:xfrm>
            <a:off x="2463738"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Processing</a:t>
            </a:r>
            <a:endParaRPr lang="en-US" sz="1500" dirty="0"/>
          </a:p>
        </p:txBody>
      </p:sp>
      <p:sp>
        <p:nvSpPr>
          <p:cNvPr id="26" name="Text 23"/>
          <p:cNvSpPr/>
          <p:nvPr/>
        </p:nvSpPr>
        <p:spPr>
          <a:xfrm>
            <a:off x="2463738" y="5837039"/>
            <a:ext cx="1701757"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Unicode normalize &amp; tokenize</a:t>
            </a:r>
            <a:endParaRPr lang="en-US" sz="1200" dirty="0"/>
          </a:p>
        </p:txBody>
      </p:sp>
      <p:sp>
        <p:nvSpPr>
          <p:cNvPr id="27" name="Text 24"/>
          <p:cNvSpPr/>
          <p:nvPr/>
        </p:nvSpPr>
        <p:spPr>
          <a:xfrm>
            <a:off x="4317892" y="5142508"/>
            <a:ext cx="844330"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03</a:t>
            </a:r>
            <a:endParaRPr lang="en-US" sz="1400" dirty="0"/>
          </a:p>
        </p:txBody>
      </p:sp>
      <p:sp>
        <p:nvSpPr>
          <p:cNvPr id="28" name="Shape 25"/>
          <p:cNvSpPr/>
          <p:nvPr/>
        </p:nvSpPr>
        <p:spPr>
          <a:xfrm>
            <a:off x="4317892" y="5391348"/>
            <a:ext cx="1701757" cy="19050"/>
          </a:xfrm>
          <a:prstGeom prst="rect">
            <a:avLst/>
          </a:prstGeom>
          <a:solidFill>
            <a:srgbClr val="0B5C8E"/>
          </a:solidFill>
          <a:ln/>
        </p:spPr>
      </p:sp>
      <p:sp>
        <p:nvSpPr>
          <p:cNvPr id="29" name="Text 26"/>
          <p:cNvSpPr/>
          <p:nvPr/>
        </p:nvSpPr>
        <p:spPr>
          <a:xfrm>
            <a:off x="4317892"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Index Lookup</a:t>
            </a:r>
            <a:endParaRPr lang="en-US" sz="1500" dirty="0"/>
          </a:p>
        </p:txBody>
      </p:sp>
      <p:sp>
        <p:nvSpPr>
          <p:cNvPr id="30" name="Text 27"/>
          <p:cNvSpPr/>
          <p:nvPr/>
        </p:nvSpPr>
        <p:spPr>
          <a:xfrm>
            <a:off x="4317892"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HashMap keyword map</a:t>
            </a:r>
            <a:endParaRPr lang="en-US" sz="1200" dirty="0"/>
          </a:p>
        </p:txBody>
      </p:sp>
      <p:sp>
        <p:nvSpPr>
          <p:cNvPr id="31" name="Text 28"/>
          <p:cNvSpPr/>
          <p:nvPr/>
        </p:nvSpPr>
        <p:spPr>
          <a:xfrm>
            <a:off x="6172046" y="5142508"/>
            <a:ext cx="844727"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04</a:t>
            </a:r>
            <a:endParaRPr lang="en-US" sz="1400" dirty="0"/>
          </a:p>
        </p:txBody>
      </p:sp>
      <p:sp>
        <p:nvSpPr>
          <p:cNvPr id="32" name="Shape 29"/>
          <p:cNvSpPr/>
          <p:nvPr/>
        </p:nvSpPr>
        <p:spPr>
          <a:xfrm>
            <a:off x="6172046" y="5391348"/>
            <a:ext cx="1701757" cy="19050"/>
          </a:xfrm>
          <a:prstGeom prst="rect">
            <a:avLst/>
          </a:prstGeom>
          <a:solidFill>
            <a:srgbClr val="0B5C8E"/>
          </a:solidFill>
          <a:ln/>
        </p:spPr>
      </p:sp>
      <p:sp>
        <p:nvSpPr>
          <p:cNvPr id="33" name="Text 30"/>
          <p:cNvSpPr/>
          <p:nvPr/>
        </p:nvSpPr>
        <p:spPr>
          <a:xfrm>
            <a:off x="6172046"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Search Engine</a:t>
            </a:r>
            <a:endParaRPr lang="en-US" sz="1500" dirty="0"/>
          </a:p>
        </p:txBody>
      </p:sp>
      <p:sp>
        <p:nvSpPr>
          <p:cNvPr id="34" name="Text 31"/>
          <p:cNvSpPr/>
          <p:nvPr/>
        </p:nvSpPr>
        <p:spPr>
          <a:xfrm>
            <a:off x="6172046"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Frequency scoring</a:t>
            </a:r>
            <a:endParaRPr lang="en-US" sz="1200" dirty="0"/>
          </a:p>
        </p:txBody>
      </p:sp>
      <p:sp>
        <p:nvSpPr>
          <p:cNvPr id="35" name="Text 32"/>
          <p:cNvSpPr/>
          <p:nvPr/>
        </p:nvSpPr>
        <p:spPr>
          <a:xfrm>
            <a:off x="8026199" y="5142508"/>
            <a:ext cx="847704"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05</a:t>
            </a:r>
            <a:endParaRPr lang="en-US" sz="1400" dirty="0"/>
          </a:p>
        </p:txBody>
      </p:sp>
      <p:sp>
        <p:nvSpPr>
          <p:cNvPr id="36" name="Shape 33"/>
          <p:cNvSpPr/>
          <p:nvPr/>
        </p:nvSpPr>
        <p:spPr>
          <a:xfrm>
            <a:off x="8026199" y="5391348"/>
            <a:ext cx="1701757" cy="19050"/>
          </a:xfrm>
          <a:prstGeom prst="rect">
            <a:avLst/>
          </a:prstGeom>
          <a:solidFill>
            <a:srgbClr val="0B5C8E"/>
          </a:solidFill>
          <a:ln/>
        </p:spPr>
      </p:sp>
      <p:sp>
        <p:nvSpPr>
          <p:cNvPr id="37" name="Text 34"/>
          <p:cNvSpPr/>
          <p:nvPr/>
        </p:nvSpPr>
        <p:spPr>
          <a:xfrm>
            <a:off x="8026199"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a:t>
            </a:r>
            <a:endParaRPr lang="en-US" sz="1500" dirty="0"/>
          </a:p>
        </p:txBody>
      </p:sp>
      <p:sp>
        <p:nvSpPr>
          <p:cNvPr id="38" name="Text 35"/>
          <p:cNvSpPr/>
          <p:nvPr/>
        </p:nvSpPr>
        <p:spPr>
          <a:xfrm>
            <a:off x="8026199"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Rank by relevance</a:t>
            </a:r>
            <a:endParaRPr lang="en-US" sz="1200" dirty="0"/>
          </a:p>
        </p:txBody>
      </p:sp>
      <p:sp>
        <p:nvSpPr>
          <p:cNvPr id="39" name="Text 36"/>
          <p:cNvSpPr/>
          <p:nvPr/>
        </p:nvSpPr>
        <p:spPr>
          <a:xfrm>
            <a:off x="9880353" y="5142508"/>
            <a:ext cx="842148" cy="177800"/>
          </a:xfrm>
          <a:prstGeom prst="rect">
            <a:avLst/>
          </a:prstGeom>
          <a:noFill/>
          <a:ln/>
        </p:spPr>
        <p:txBody>
          <a:bodyPr wrap="none" lIns="0" tIns="0" rIns="0" bIns="0" rtlCol="0" anchor="t"/>
          <a:lstStyle/>
          <a:p>
            <a:pPr marL="0" indent="0" algn="l">
              <a:lnSpc>
                <a:spcPct val="83000"/>
              </a:lnSpc>
              <a:buNone/>
            </a:pPr>
            <a:r>
              <a:rPr lang="en-US" sz="1400" dirty="0">
                <a:solidFill>
                  <a:srgbClr val="0B5C8E"/>
                </a:solidFill>
                <a:latin typeface="Geist SemiBold" pitchFamily="34" charset="0"/>
                <a:ea typeface="Geist SemiBold" pitchFamily="34" charset="-122"/>
                <a:cs typeface="Geist SemiBold" pitchFamily="34" charset="-120"/>
              </a:rPr>
              <a:t>06</a:t>
            </a:r>
            <a:endParaRPr lang="en-US" sz="1400" dirty="0"/>
          </a:p>
        </p:txBody>
      </p:sp>
      <p:sp>
        <p:nvSpPr>
          <p:cNvPr id="40" name="Shape 37"/>
          <p:cNvSpPr/>
          <p:nvPr/>
        </p:nvSpPr>
        <p:spPr>
          <a:xfrm>
            <a:off x="9880353" y="5391348"/>
            <a:ext cx="1701757" cy="19050"/>
          </a:xfrm>
          <a:prstGeom prst="rect">
            <a:avLst/>
          </a:prstGeom>
          <a:solidFill>
            <a:srgbClr val="0B5C8E"/>
          </a:solidFill>
          <a:ln/>
        </p:spPr>
      </p:sp>
      <p:sp>
        <p:nvSpPr>
          <p:cNvPr id="41" name="Text 38"/>
          <p:cNvSpPr/>
          <p:nvPr/>
        </p:nvSpPr>
        <p:spPr>
          <a:xfrm>
            <a:off x="9880353" y="5481439"/>
            <a:ext cx="1701757"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Ranked Results</a:t>
            </a:r>
            <a:endParaRPr lang="en-US" sz="1500" dirty="0"/>
          </a:p>
        </p:txBody>
      </p:sp>
      <p:sp>
        <p:nvSpPr>
          <p:cNvPr id="42" name="Text 39"/>
          <p:cNvSpPr/>
          <p:nvPr/>
        </p:nvSpPr>
        <p:spPr>
          <a:xfrm>
            <a:off x="9880353" y="5837039"/>
            <a:ext cx="1701757"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Display in web UI</a:t>
            </a:r>
            <a:endParaRPr lang="en-US" sz="1200" dirty="0"/>
          </a:p>
        </p:txBody>
      </p:sp>
      <p:sp>
        <p:nvSpPr>
          <p:cNvPr id="43" name="Shape 40"/>
          <p:cNvSpPr/>
          <p:nvPr/>
        </p:nvSpPr>
        <p:spPr>
          <a:xfrm>
            <a:off x="3346366" y="2304455"/>
            <a:ext cx="12700" cy="1432917"/>
          </a:xfrm>
          <a:prstGeom prst="rect">
            <a:avLst/>
          </a:prstGeom>
          <a:solidFill>
            <a:srgbClr val="C9D6DB"/>
          </a:solidFill>
          <a:ln/>
        </p:spPr>
      </p:sp>
      <p:sp>
        <p:nvSpPr>
          <p:cNvPr id="44" name="Shape 41"/>
          <p:cNvSpPr/>
          <p:nvPr/>
        </p:nvSpPr>
        <p:spPr>
          <a:xfrm>
            <a:off x="6089498" y="2304455"/>
            <a:ext cx="12700" cy="1432917"/>
          </a:xfrm>
          <a:prstGeom prst="rect">
            <a:avLst/>
          </a:prstGeom>
          <a:solidFill>
            <a:srgbClr val="C9D6DB"/>
          </a:solidFill>
          <a:ln/>
        </p:spPr>
      </p:sp>
      <p:sp>
        <p:nvSpPr>
          <p:cNvPr id="45" name="Shape 42"/>
          <p:cNvSpPr/>
          <p:nvPr/>
        </p:nvSpPr>
        <p:spPr>
          <a:xfrm>
            <a:off x="8832629" y="2304455"/>
            <a:ext cx="12700" cy="1432917"/>
          </a:xfrm>
          <a:prstGeom prst="rect">
            <a:avLst/>
          </a:prstGeom>
          <a:solidFill>
            <a:srgbClr val="C9D6DB"/>
          </a:solidFill>
          <a:ln/>
        </p:spPr>
      </p:sp>
      <p:sp>
        <p:nvSpPr>
          <p:cNvPr id="46" name="Text 43"/>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02</a:t>
            </a:r>
            <a:endParaRPr lang="en-US" sz="1050" dirty="0"/>
          </a:p>
        </p:txBody>
      </p:sp>
      <p:pic>
        <p:nvPicPr>
          <p:cNvPr id="48" name="Picture 47">
            <a:extLst>
              <a:ext uri="{FF2B5EF4-FFF2-40B4-BE49-F238E27FC236}">
                <a16:creationId xmlns:a16="http://schemas.microsoft.com/office/drawing/2014/main" id="{33AADD84-43C7-1B52-CFD7-68C8753AB941}"/>
              </a:ext>
            </a:extLst>
          </p:cNvPr>
          <p:cNvPicPr>
            <a:picLocks noChangeAspect="1"/>
          </p:cNvPicPr>
          <p:nvPr/>
        </p:nvPicPr>
        <p:blipFill>
          <a:blip r:embed="rId4"/>
          <a:stretch>
            <a:fillRect/>
          </a:stretch>
        </p:blipFill>
        <p:spPr>
          <a:xfrm>
            <a:off x="10635528" y="6497043"/>
            <a:ext cx="1530429" cy="3238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Problem Statement</a:t>
            </a:r>
            <a:endParaRPr lang="en-US" sz="3400" dirty="0"/>
          </a:p>
        </p:txBody>
      </p:sp>
      <p:sp>
        <p:nvSpPr>
          <p:cNvPr id="3" name="Text 1"/>
          <p:cNvSpPr/>
          <p:nvPr/>
        </p:nvSpPr>
        <p:spPr>
          <a:xfrm>
            <a:off x="355592" y="1809075"/>
            <a:ext cx="7116781" cy="3021786"/>
          </a:xfrm>
          <a:prstGeom prst="rect">
            <a:avLst/>
          </a:prstGeom>
          <a:noFill/>
          <a:ln/>
        </p:spPr>
        <p:txBody>
          <a:bodyPr wrap="square" lIns="0" tIns="0" rIns="0" bIns="0" rtlCol="0" anchor="t">
            <a:noAutofit/>
          </a:bodyPr>
          <a:lstStyle/>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Scanning every document in a large multilingual collection can be inefficient.</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Indian-language content requires correct Unicode text handling.</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Users need relevant results rather than arbitrary document order.</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Prefix suggestions can improve the search experience.</a:t>
            </a:r>
            <a:endParaRPr lang="en-US" dirty="0"/>
          </a:p>
          <a:p>
            <a:pPr marL="284480" indent="-284480" algn="l">
              <a:lnSpc>
                <a:spcPct val="121000"/>
              </a:lnSpc>
              <a:buSzPct val="100000"/>
              <a:buChar char="•"/>
            </a:pPr>
            <a:r>
              <a:rPr lang="en-US" dirty="0">
                <a:solidFill>
                  <a:srgbClr val="2A3A43"/>
                </a:solidFill>
                <a:latin typeface="Geist" pitchFamily="34" charset="0"/>
                <a:ea typeface="Geist" pitchFamily="34" charset="-122"/>
                <a:cs typeface="Geist" pitchFamily="34" charset="-120"/>
              </a:rPr>
              <a:t>Indexing, retrieval, and ranking require suitable data structures and algorithms.</a:t>
            </a:r>
            <a:endParaRPr lang="en-US" dirty="0"/>
          </a:p>
        </p:txBody>
      </p:sp>
      <p:sp>
        <p:nvSpPr>
          <p:cNvPr id="4" name="Shape 2"/>
          <p:cNvSpPr/>
          <p:nvPr/>
        </p:nvSpPr>
        <p:spPr>
          <a:xfrm>
            <a:off x="7940476" y="1858764"/>
            <a:ext cx="3855743" cy="2337395"/>
          </a:xfrm>
          <a:prstGeom prst="rect">
            <a:avLst/>
          </a:prstGeom>
          <a:solidFill>
            <a:srgbClr val="E3ECEF"/>
          </a:solidFill>
          <a:ln/>
        </p:spPr>
        <p:txBody>
          <a:bodyPr/>
          <a:lstStyle/>
          <a:p>
            <a:endParaRPr lang="en-GB" dirty="0"/>
          </a:p>
        </p:txBody>
      </p:sp>
      <p:sp>
        <p:nvSpPr>
          <p:cNvPr id="5" name="Text 3"/>
          <p:cNvSpPr/>
          <p:nvPr/>
        </p:nvSpPr>
        <p:spPr>
          <a:xfrm>
            <a:off x="8194469" y="2034083"/>
            <a:ext cx="3601749"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2A3A43"/>
                </a:solidFill>
                <a:latin typeface="Geist Mono Medium" pitchFamily="34" charset="0"/>
                <a:ea typeface="Geist Mono Medium" pitchFamily="34" charset="-122"/>
                <a:cs typeface="Geist Mono Medium" pitchFamily="34" charset="-120"/>
              </a:rPr>
              <a:t>DESIGN GOAL</a:t>
            </a:r>
            <a:endParaRPr lang="en-US" sz="1100" dirty="0"/>
          </a:p>
        </p:txBody>
      </p:sp>
      <p:sp>
        <p:nvSpPr>
          <p:cNvPr id="6" name="Text 4"/>
          <p:cNvSpPr/>
          <p:nvPr/>
        </p:nvSpPr>
        <p:spPr>
          <a:xfrm>
            <a:off x="8194469" y="2288679"/>
            <a:ext cx="3347755" cy="1524000"/>
          </a:xfrm>
          <a:prstGeom prst="rect">
            <a:avLst/>
          </a:prstGeom>
          <a:noFill/>
          <a:ln/>
        </p:spPr>
        <p:txBody>
          <a:bodyPr wrap="square" lIns="0" tIns="0" rIns="0" bIns="0" rtlCol="0" anchor="t">
            <a:normAutofit fontScale="92500"/>
          </a:bodyPr>
          <a:lstStyle/>
          <a:p>
            <a:pPr marL="0" indent="0" algn="l">
              <a:lnSpc>
                <a:spcPct val="100000"/>
              </a:lnSpc>
              <a:buNone/>
            </a:pPr>
            <a:r>
              <a:rPr lang="en-US" sz="2000" dirty="0">
                <a:solidFill>
                  <a:srgbClr val="2A3A43"/>
                </a:solidFill>
                <a:latin typeface="Geist SemiBold" pitchFamily="34" charset="0"/>
                <a:ea typeface="Geist SemiBold" pitchFamily="34" charset="-122"/>
                <a:cs typeface="Geist SemiBold" pitchFamily="34" charset="-120"/>
              </a:rPr>
              <a:t>Build an efficient keyword-based search system that demonstrates DSA techniques for multilingual Wikipedia search.</a:t>
            </a:r>
            <a:endParaRPr lang="en-US" sz="2000" dirty="0"/>
          </a:p>
        </p:txBody>
      </p:sp>
      <p:sp>
        <p:nvSpPr>
          <p:cNvPr id="7" name="Text 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03</a:t>
            </a:r>
            <a:endParaRPr lang="en-US" sz="1050" dirty="0"/>
          </a:p>
        </p:txBody>
      </p:sp>
      <p:pic>
        <p:nvPicPr>
          <p:cNvPr id="8" name="Picture 7">
            <a:extLst>
              <a:ext uri="{FF2B5EF4-FFF2-40B4-BE49-F238E27FC236}">
                <a16:creationId xmlns:a16="http://schemas.microsoft.com/office/drawing/2014/main" id="{F1DFD303-823F-EE15-1EB0-49BD516628EA}"/>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SYSTEM CAPABILITIES</a:t>
            </a:r>
            <a:endParaRPr lang="en-US" sz="1100" dirty="0"/>
          </a:p>
        </p:txBody>
      </p:sp>
      <p:sp>
        <p:nvSpPr>
          <p:cNvPr id="3" name="Text 1"/>
          <p:cNvSpPr/>
          <p:nvPr/>
        </p:nvSpPr>
        <p:spPr>
          <a:xfrm>
            <a:off x="609585" y="864195"/>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Proposed Functionalities</a:t>
            </a:r>
            <a:endParaRPr lang="en-US" sz="3400" dirty="0"/>
          </a:p>
        </p:txBody>
      </p:sp>
      <p:sp>
        <p:nvSpPr>
          <p:cNvPr id="4" name="Text 2"/>
          <p:cNvSpPr/>
          <p:nvPr/>
        </p:nvSpPr>
        <p:spPr>
          <a:xfrm>
            <a:off x="609585" y="1540073"/>
            <a:ext cx="10972526" cy="280591"/>
          </a:xfrm>
          <a:prstGeom prst="rect">
            <a:avLst/>
          </a:prstGeom>
          <a:noFill/>
          <a:ln/>
        </p:spPr>
        <p:txBody>
          <a:bodyPr wrap="none" lIns="0" tIns="0" rIns="0" bIns="0" rtlCol="0" anchor="t"/>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Eight cohesive capabilities bridging user inputs, linguistic processing, and algorithmic retrieval.</a:t>
            </a:r>
            <a:endParaRPr lang="en-US" sz="1700" dirty="0"/>
          </a:p>
        </p:txBody>
      </p:sp>
      <p:pic>
        <p:nvPicPr>
          <p:cNvPr id="5" name="Image 0" descr="preencoded.png"/>
          <p:cNvPicPr>
            <a:picLocks noChangeAspect="1"/>
          </p:cNvPicPr>
          <p:nvPr/>
        </p:nvPicPr>
        <p:blipFill>
          <a:blip r:embed="rId3"/>
          <a:stretch>
            <a:fillRect/>
          </a:stretch>
        </p:blipFill>
        <p:spPr>
          <a:xfrm>
            <a:off x="609585" y="2023864"/>
            <a:ext cx="444489" cy="444500"/>
          </a:xfrm>
          <a:prstGeom prst="rect">
            <a:avLst/>
          </a:prstGeom>
        </p:spPr>
      </p:pic>
      <p:sp>
        <p:nvSpPr>
          <p:cNvPr id="6" name="Text 3"/>
          <p:cNvSpPr/>
          <p:nvPr/>
        </p:nvSpPr>
        <p:spPr>
          <a:xfrm>
            <a:off x="609585" y="2573139"/>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Keyword Search</a:t>
            </a:r>
            <a:endParaRPr lang="en-US" sz="1500" dirty="0"/>
          </a:p>
        </p:txBody>
      </p:sp>
      <p:sp>
        <p:nvSpPr>
          <p:cNvPr id="7" name="Text 4"/>
          <p:cNvSpPr/>
          <p:nvPr/>
        </p:nvSpPr>
        <p:spPr>
          <a:xfrm>
            <a:off x="609585" y="2928739"/>
            <a:ext cx="2590735"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Supports single and multi-term queries with boolean term matching.</a:t>
            </a:r>
            <a:endParaRPr lang="en-US" sz="1200" dirty="0"/>
          </a:p>
        </p:txBody>
      </p:sp>
      <p:pic>
        <p:nvPicPr>
          <p:cNvPr id="8" name="Image 1" descr="preencoded.png"/>
          <p:cNvPicPr>
            <a:picLocks noChangeAspect="1"/>
          </p:cNvPicPr>
          <p:nvPr/>
        </p:nvPicPr>
        <p:blipFill>
          <a:blip r:embed="rId4"/>
          <a:stretch>
            <a:fillRect/>
          </a:stretch>
        </p:blipFill>
        <p:spPr>
          <a:xfrm>
            <a:off x="3505112" y="2023864"/>
            <a:ext cx="444489" cy="444500"/>
          </a:xfrm>
          <a:prstGeom prst="rect">
            <a:avLst/>
          </a:prstGeom>
        </p:spPr>
      </p:pic>
      <p:sp>
        <p:nvSpPr>
          <p:cNvPr id="9" name="Text 5"/>
          <p:cNvSpPr/>
          <p:nvPr/>
        </p:nvSpPr>
        <p:spPr>
          <a:xfrm>
            <a:off x="3505112" y="2573139"/>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Indian-Language Support</a:t>
            </a:r>
            <a:endParaRPr lang="en-US" sz="1500" dirty="0"/>
          </a:p>
        </p:txBody>
      </p:sp>
      <p:sp>
        <p:nvSpPr>
          <p:cNvPr id="10" name="Text 6"/>
          <p:cNvSpPr/>
          <p:nvPr/>
        </p:nvSpPr>
        <p:spPr>
          <a:xfrm>
            <a:off x="3505112" y="2928739"/>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Full Unicode UTF-8 support across Indian-language Wikipedia domains.</a:t>
            </a:r>
            <a:endParaRPr lang="en-US" sz="1200" dirty="0"/>
          </a:p>
        </p:txBody>
      </p:sp>
      <p:pic>
        <p:nvPicPr>
          <p:cNvPr id="11" name="Image 2" descr="preencoded.png"/>
          <p:cNvPicPr>
            <a:picLocks noChangeAspect="1"/>
          </p:cNvPicPr>
          <p:nvPr/>
        </p:nvPicPr>
        <p:blipFill>
          <a:blip r:embed="rId5"/>
          <a:stretch>
            <a:fillRect/>
          </a:stretch>
        </p:blipFill>
        <p:spPr>
          <a:xfrm>
            <a:off x="6248244" y="2023864"/>
            <a:ext cx="444489" cy="444500"/>
          </a:xfrm>
          <a:prstGeom prst="rect">
            <a:avLst/>
          </a:prstGeom>
        </p:spPr>
      </p:pic>
      <p:sp>
        <p:nvSpPr>
          <p:cNvPr id="12" name="Text 7"/>
          <p:cNvSpPr/>
          <p:nvPr/>
        </p:nvSpPr>
        <p:spPr>
          <a:xfrm>
            <a:off x="6248244" y="2573139"/>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Preprocessing</a:t>
            </a:r>
            <a:endParaRPr lang="en-US" sz="1500" dirty="0"/>
          </a:p>
        </p:txBody>
      </p:sp>
      <p:sp>
        <p:nvSpPr>
          <p:cNvPr id="13" name="Text 8"/>
          <p:cNvSpPr/>
          <p:nvPr/>
        </p:nvSpPr>
        <p:spPr>
          <a:xfrm>
            <a:off x="6248244" y="2928739"/>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Normalizes script variants and tokenizes query text into clean search terms.</a:t>
            </a:r>
            <a:endParaRPr lang="en-US" sz="1200" dirty="0"/>
          </a:p>
        </p:txBody>
      </p:sp>
      <p:pic>
        <p:nvPicPr>
          <p:cNvPr id="14" name="Image 3" descr="preencoded.png"/>
          <p:cNvPicPr>
            <a:picLocks noChangeAspect="1"/>
          </p:cNvPicPr>
          <p:nvPr/>
        </p:nvPicPr>
        <p:blipFill>
          <a:blip r:embed="rId6"/>
          <a:stretch>
            <a:fillRect/>
          </a:stretch>
        </p:blipFill>
        <p:spPr>
          <a:xfrm>
            <a:off x="8991375" y="2023864"/>
            <a:ext cx="444489" cy="444500"/>
          </a:xfrm>
          <a:prstGeom prst="rect">
            <a:avLst/>
          </a:prstGeom>
        </p:spPr>
      </p:pic>
      <p:sp>
        <p:nvSpPr>
          <p:cNvPr id="15" name="Text 9"/>
          <p:cNvSpPr/>
          <p:nvPr/>
        </p:nvSpPr>
        <p:spPr>
          <a:xfrm>
            <a:off x="8991375" y="2573139"/>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Inverted Index Search</a:t>
            </a:r>
            <a:endParaRPr lang="en-US" sz="1500" dirty="0"/>
          </a:p>
        </p:txBody>
      </p:sp>
      <p:sp>
        <p:nvSpPr>
          <p:cNvPr id="16" name="Text 10"/>
          <p:cNvSpPr/>
          <p:nvPr/>
        </p:nvSpPr>
        <p:spPr>
          <a:xfrm>
            <a:off x="8991375" y="2928739"/>
            <a:ext cx="2590735"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Maps individual tokens directly to matching candidate document IDs.</a:t>
            </a:r>
            <a:endParaRPr lang="en-US" sz="1200" dirty="0"/>
          </a:p>
        </p:txBody>
      </p:sp>
      <p:pic>
        <p:nvPicPr>
          <p:cNvPr id="17" name="Image 4" descr="preencoded.png"/>
          <p:cNvPicPr>
            <a:picLocks noChangeAspect="1"/>
          </p:cNvPicPr>
          <p:nvPr/>
        </p:nvPicPr>
        <p:blipFill>
          <a:blip r:embed="rId7"/>
          <a:stretch>
            <a:fillRect/>
          </a:stretch>
        </p:blipFill>
        <p:spPr>
          <a:xfrm>
            <a:off x="609585" y="3850580"/>
            <a:ext cx="444489" cy="444500"/>
          </a:xfrm>
          <a:prstGeom prst="rect">
            <a:avLst/>
          </a:prstGeom>
        </p:spPr>
      </p:pic>
      <p:sp>
        <p:nvSpPr>
          <p:cNvPr id="18" name="Text 11"/>
          <p:cNvSpPr/>
          <p:nvPr/>
        </p:nvSpPr>
        <p:spPr>
          <a:xfrm>
            <a:off x="609585" y="4399855"/>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Frequency-Based Ranking</a:t>
            </a:r>
            <a:endParaRPr lang="en-US" sz="1500" dirty="0"/>
          </a:p>
        </p:txBody>
      </p:sp>
      <p:sp>
        <p:nvSpPr>
          <p:cNvPr id="19" name="Text 12"/>
          <p:cNvSpPr/>
          <p:nvPr/>
        </p:nvSpPr>
        <p:spPr>
          <a:xfrm>
            <a:off x="609585" y="4755455"/>
            <a:ext cx="2590735"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Computes term occurrence frequencies to prioritize the most relevant pages.</a:t>
            </a:r>
            <a:endParaRPr lang="en-US" sz="1200" dirty="0"/>
          </a:p>
        </p:txBody>
      </p:sp>
      <p:pic>
        <p:nvPicPr>
          <p:cNvPr id="20" name="Image 5" descr="preencoded.png"/>
          <p:cNvPicPr>
            <a:picLocks noChangeAspect="1"/>
          </p:cNvPicPr>
          <p:nvPr/>
        </p:nvPicPr>
        <p:blipFill>
          <a:blip r:embed="rId8"/>
          <a:stretch>
            <a:fillRect/>
          </a:stretch>
        </p:blipFill>
        <p:spPr>
          <a:xfrm>
            <a:off x="3505112" y="3850580"/>
            <a:ext cx="444489" cy="444500"/>
          </a:xfrm>
          <a:prstGeom prst="rect">
            <a:avLst/>
          </a:prstGeom>
        </p:spPr>
      </p:pic>
      <p:sp>
        <p:nvSpPr>
          <p:cNvPr id="21" name="Text 13"/>
          <p:cNvSpPr/>
          <p:nvPr/>
        </p:nvSpPr>
        <p:spPr>
          <a:xfrm>
            <a:off x="3505112" y="4399855"/>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Prefix Suggestions</a:t>
            </a:r>
            <a:endParaRPr lang="en-US" sz="1500" dirty="0"/>
          </a:p>
        </p:txBody>
      </p:sp>
      <p:sp>
        <p:nvSpPr>
          <p:cNvPr id="22" name="Text 14"/>
          <p:cNvSpPr/>
          <p:nvPr/>
        </p:nvSpPr>
        <p:spPr>
          <a:xfrm>
            <a:off x="3505112" y="4755455"/>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Interactive autocomplete backed by a memory-efficient character Trie.</a:t>
            </a:r>
            <a:endParaRPr lang="en-US" sz="1200" dirty="0"/>
          </a:p>
        </p:txBody>
      </p:sp>
      <p:pic>
        <p:nvPicPr>
          <p:cNvPr id="23" name="Image 6" descr="preencoded.png"/>
          <p:cNvPicPr>
            <a:picLocks noChangeAspect="1"/>
          </p:cNvPicPr>
          <p:nvPr/>
        </p:nvPicPr>
        <p:blipFill>
          <a:blip r:embed="rId9"/>
          <a:stretch>
            <a:fillRect/>
          </a:stretch>
        </p:blipFill>
        <p:spPr>
          <a:xfrm>
            <a:off x="6248244" y="3850580"/>
            <a:ext cx="444489" cy="444500"/>
          </a:xfrm>
          <a:prstGeom prst="rect">
            <a:avLst/>
          </a:prstGeom>
        </p:spPr>
      </p:pic>
      <p:sp>
        <p:nvSpPr>
          <p:cNvPr id="24" name="Text 15"/>
          <p:cNvSpPr/>
          <p:nvPr/>
        </p:nvSpPr>
        <p:spPr>
          <a:xfrm>
            <a:off x="6248244" y="4399855"/>
            <a:ext cx="2438339"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Real-Time Metrics</a:t>
            </a:r>
            <a:endParaRPr lang="en-US" sz="1500" dirty="0"/>
          </a:p>
        </p:txBody>
      </p:sp>
      <p:sp>
        <p:nvSpPr>
          <p:cNvPr id="25" name="Text 16"/>
          <p:cNvSpPr/>
          <p:nvPr/>
        </p:nvSpPr>
        <p:spPr>
          <a:xfrm>
            <a:off x="6248244" y="4755455"/>
            <a:ext cx="2438339"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Surfaces query latency, total documents matched, and indexed keys.</a:t>
            </a:r>
            <a:endParaRPr lang="en-US" sz="1200" dirty="0"/>
          </a:p>
        </p:txBody>
      </p:sp>
      <p:pic>
        <p:nvPicPr>
          <p:cNvPr id="26" name="Image 7" descr="preencoded.png"/>
          <p:cNvPicPr>
            <a:picLocks noChangeAspect="1"/>
          </p:cNvPicPr>
          <p:nvPr/>
        </p:nvPicPr>
        <p:blipFill>
          <a:blip r:embed="rId10"/>
          <a:stretch>
            <a:fillRect/>
          </a:stretch>
        </p:blipFill>
        <p:spPr>
          <a:xfrm>
            <a:off x="8991375" y="3850580"/>
            <a:ext cx="444489" cy="444500"/>
          </a:xfrm>
          <a:prstGeom prst="rect">
            <a:avLst/>
          </a:prstGeom>
        </p:spPr>
      </p:pic>
      <p:sp>
        <p:nvSpPr>
          <p:cNvPr id="27" name="Text 17"/>
          <p:cNvSpPr/>
          <p:nvPr/>
        </p:nvSpPr>
        <p:spPr>
          <a:xfrm>
            <a:off x="8991375" y="4399855"/>
            <a:ext cx="2590735"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Web Interface</a:t>
            </a:r>
            <a:endParaRPr lang="en-US" sz="1500" dirty="0"/>
          </a:p>
        </p:txBody>
      </p:sp>
      <p:sp>
        <p:nvSpPr>
          <p:cNvPr id="28" name="Text 18"/>
          <p:cNvSpPr/>
          <p:nvPr/>
        </p:nvSpPr>
        <p:spPr>
          <a:xfrm>
            <a:off x="8991375" y="4755455"/>
            <a:ext cx="2590735" cy="61704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Responsive UI to enter queries, toggle languages, and inspect ranked results.</a:t>
            </a:r>
            <a:endParaRPr lang="en-US" sz="1200" dirty="0"/>
          </a:p>
        </p:txBody>
      </p:sp>
      <p:sp>
        <p:nvSpPr>
          <p:cNvPr id="29" name="Text 19"/>
          <p:cNvSpPr/>
          <p:nvPr/>
        </p:nvSpPr>
        <p:spPr>
          <a:xfrm>
            <a:off x="609585" y="6059539"/>
            <a:ext cx="11582110" cy="179983"/>
          </a:xfrm>
          <a:prstGeom prst="rect">
            <a:avLst/>
          </a:prstGeom>
          <a:noFill/>
          <a:ln/>
        </p:spPr>
        <p:txBody>
          <a:bodyPr wrap="none" lIns="0" tIns="0" rIns="0" bIns="0" rtlCol="0" anchor="t"/>
          <a:lstStyle/>
          <a:p>
            <a:pPr marL="0" indent="0" algn="l">
              <a:lnSpc>
                <a:spcPct val="113000"/>
              </a:lnSpc>
              <a:buNone/>
            </a:pPr>
            <a:r>
              <a:rPr lang="en-US" sz="1050" kern="0" spc="84" dirty="0">
                <a:solidFill>
                  <a:srgbClr val="55656E"/>
                </a:solidFill>
                <a:latin typeface="Geist Mono" pitchFamily="34" charset="0"/>
                <a:ea typeface="Geist Mono" pitchFamily="34" charset="-122"/>
                <a:cs typeface="Geist Mono" pitchFamily="34" charset="-120"/>
              </a:rPr>
              <a:t>END-USER &amp; ALGORITHMIC CAPABILITIES IMPLEMENTED IN INDICSEARCH</a:t>
            </a:r>
            <a:endParaRPr lang="en-US" sz="1050" dirty="0"/>
          </a:p>
        </p:txBody>
      </p:sp>
      <p:sp>
        <p:nvSpPr>
          <p:cNvPr id="30" name="Text 20"/>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04</a:t>
            </a:r>
            <a:endParaRPr lang="en-US" sz="1050" dirty="0"/>
          </a:p>
        </p:txBody>
      </p:sp>
      <p:pic>
        <p:nvPicPr>
          <p:cNvPr id="31" name="Picture 30">
            <a:extLst>
              <a:ext uri="{FF2B5EF4-FFF2-40B4-BE49-F238E27FC236}">
                <a16:creationId xmlns:a16="http://schemas.microsoft.com/office/drawing/2014/main" id="{4A07FFB3-D5C1-296A-3530-D35C92B7FCBC}"/>
              </a:ext>
            </a:extLst>
          </p:cNvPr>
          <p:cNvPicPr>
            <a:picLocks noChangeAspect="1"/>
          </p:cNvPicPr>
          <p:nvPr/>
        </p:nvPicPr>
        <p:blipFill>
          <a:blip r:embed="rId11"/>
          <a:stretch>
            <a:fillRect/>
          </a:stretch>
        </p:blipFill>
        <p:spPr>
          <a:xfrm>
            <a:off x="10635528" y="6497043"/>
            <a:ext cx="1530429" cy="3238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760413"/>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Algorithms, Tools &amp; Technologies</a:t>
            </a:r>
            <a:endParaRPr lang="en-US" sz="3400" dirty="0"/>
          </a:p>
        </p:txBody>
      </p:sp>
      <p:sp>
        <p:nvSpPr>
          <p:cNvPr id="3" name="Text 1"/>
          <p:cNvSpPr/>
          <p:nvPr/>
        </p:nvSpPr>
        <p:spPr>
          <a:xfrm>
            <a:off x="609585" y="1379141"/>
            <a:ext cx="5486263"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DATA STRUCTURES &amp; ALGORITHMS</a:t>
            </a:r>
            <a:endParaRPr lang="en-US" sz="1100" dirty="0"/>
          </a:p>
        </p:txBody>
      </p:sp>
      <p:sp>
        <p:nvSpPr>
          <p:cNvPr id="4" name="Text 2"/>
          <p:cNvSpPr/>
          <p:nvPr/>
        </p:nvSpPr>
        <p:spPr>
          <a:xfrm>
            <a:off x="609585" y="1665486"/>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HashMap</a:t>
            </a:r>
            <a:endParaRPr lang="en-US" sz="1500" dirty="0"/>
          </a:p>
        </p:txBody>
      </p:sp>
      <p:sp>
        <p:nvSpPr>
          <p:cNvPr id="5" name="Text 3"/>
          <p:cNvSpPr/>
          <p:nvPr/>
        </p:nvSpPr>
        <p:spPr>
          <a:xfrm>
            <a:off x="609585" y="2021086"/>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Document storage and score management</a:t>
            </a:r>
            <a:endParaRPr lang="en-US" sz="1200" dirty="0"/>
          </a:p>
        </p:txBody>
      </p:sp>
      <p:sp>
        <p:nvSpPr>
          <p:cNvPr id="6" name="Text 4"/>
          <p:cNvSpPr/>
          <p:nvPr/>
        </p:nvSpPr>
        <p:spPr>
          <a:xfrm>
            <a:off x="609585" y="2633166"/>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Inverted Index</a:t>
            </a:r>
            <a:endParaRPr lang="en-US" sz="1500" dirty="0"/>
          </a:p>
        </p:txBody>
      </p:sp>
      <p:sp>
        <p:nvSpPr>
          <p:cNvPr id="7" name="Text 5"/>
          <p:cNvSpPr/>
          <p:nvPr/>
        </p:nvSpPr>
        <p:spPr>
          <a:xfrm>
            <a:off x="609585" y="2988766"/>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Keyword-to-document mapping</a:t>
            </a:r>
            <a:endParaRPr lang="en-US" sz="1200" dirty="0"/>
          </a:p>
        </p:txBody>
      </p:sp>
      <p:sp>
        <p:nvSpPr>
          <p:cNvPr id="8" name="Text 6"/>
          <p:cNvSpPr/>
          <p:nvPr/>
        </p:nvSpPr>
        <p:spPr>
          <a:xfrm>
            <a:off x="609585" y="360084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Trie</a:t>
            </a:r>
            <a:endParaRPr lang="en-US" sz="1500" dirty="0"/>
          </a:p>
        </p:txBody>
      </p:sp>
      <p:sp>
        <p:nvSpPr>
          <p:cNvPr id="9" name="Text 7"/>
          <p:cNvSpPr/>
          <p:nvPr/>
        </p:nvSpPr>
        <p:spPr>
          <a:xfrm>
            <a:off x="609585" y="3956447"/>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Prefix-based suggestions</a:t>
            </a:r>
            <a:endParaRPr lang="en-US" sz="1200" dirty="0"/>
          </a:p>
        </p:txBody>
      </p:sp>
      <p:sp>
        <p:nvSpPr>
          <p:cNvPr id="10" name="Text 8"/>
          <p:cNvSpPr/>
          <p:nvPr/>
        </p:nvSpPr>
        <p:spPr>
          <a:xfrm>
            <a:off x="609585" y="456852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Merge Sort</a:t>
            </a:r>
            <a:endParaRPr lang="en-US" sz="1500" dirty="0"/>
          </a:p>
        </p:txBody>
      </p:sp>
      <p:sp>
        <p:nvSpPr>
          <p:cNvPr id="11" name="Text 9"/>
          <p:cNvSpPr/>
          <p:nvPr/>
        </p:nvSpPr>
        <p:spPr>
          <a:xfrm>
            <a:off x="609585" y="4924127"/>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Ranking by frequency</a:t>
            </a:r>
            <a:endParaRPr lang="en-US" sz="1200" dirty="0"/>
          </a:p>
        </p:txBody>
      </p:sp>
      <p:sp>
        <p:nvSpPr>
          <p:cNvPr id="12" name="Text 10"/>
          <p:cNvSpPr/>
          <p:nvPr/>
        </p:nvSpPr>
        <p:spPr>
          <a:xfrm>
            <a:off x="609585" y="5536208"/>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preprocessing</a:t>
            </a:r>
            <a:endParaRPr lang="en-US" sz="1500" dirty="0"/>
          </a:p>
        </p:txBody>
      </p:sp>
      <p:sp>
        <p:nvSpPr>
          <p:cNvPr id="13" name="Text 11"/>
          <p:cNvSpPr/>
          <p:nvPr/>
        </p:nvSpPr>
        <p:spPr>
          <a:xfrm>
            <a:off x="609585" y="5891808"/>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Normalization and tokenization</a:t>
            </a:r>
            <a:endParaRPr lang="en-US" sz="1200" dirty="0"/>
          </a:p>
        </p:txBody>
      </p:sp>
      <p:sp>
        <p:nvSpPr>
          <p:cNvPr id="14" name="Text 12"/>
          <p:cNvSpPr/>
          <p:nvPr/>
        </p:nvSpPr>
        <p:spPr>
          <a:xfrm>
            <a:off x="6299042" y="1379141"/>
            <a:ext cx="5283068"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TOOLS &amp; TECHNOLOGIES</a:t>
            </a:r>
            <a:endParaRPr lang="en-US" sz="1100" dirty="0"/>
          </a:p>
        </p:txBody>
      </p:sp>
      <p:sp>
        <p:nvSpPr>
          <p:cNvPr id="15" name="Text 13"/>
          <p:cNvSpPr/>
          <p:nvPr/>
        </p:nvSpPr>
        <p:spPr>
          <a:xfrm>
            <a:off x="6299042" y="1665486"/>
            <a:ext cx="5283068"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Java · HTML · CSS · JavaScript · Java HttpClient · Wikipedia MediaWiki API · VS Code</a:t>
            </a:r>
            <a:endParaRPr lang="en-US" sz="1200" dirty="0"/>
          </a:p>
        </p:txBody>
      </p:sp>
      <p:sp>
        <p:nvSpPr>
          <p:cNvPr id="16" name="Text 14"/>
          <p:cNvSpPr/>
          <p:nvPr/>
        </p:nvSpPr>
        <p:spPr>
          <a:xfrm>
            <a:off x="6299042" y="2483247"/>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Architecture</a:t>
            </a:r>
            <a:endParaRPr lang="en-US" sz="1500" dirty="0"/>
          </a:p>
        </p:txBody>
      </p:sp>
      <p:sp>
        <p:nvSpPr>
          <p:cNvPr id="17" name="Text 15"/>
          <p:cNvSpPr/>
          <p:nvPr/>
        </p:nvSpPr>
        <p:spPr>
          <a:xfrm>
            <a:off x="6299042" y="2838847"/>
            <a:ext cx="5283068" cy="411361"/>
          </a:xfrm>
          <a:prstGeom prst="rect">
            <a:avLst/>
          </a:prstGeom>
          <a:noFill/>
          <a:ln/>
        </p:spPr>
        <p:txBody>
          <a:bodyPr wrap="square" lIns="0" tIns="0" rIns="0" bIns="0" rtlCol="0" anchor="t">
            <a:normAutofit/>
          </a:bodyPr>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Frontend → Java API Server → Wikipedia API → DSA Search Engine → Ranked Results</a:t>
            </a:r>
            <a:endParaRPr lang="en-US" sz="1200" dirty="0"/>
          </a:p>
        </p:txBody>
      </p:sp>
      <p:sp>
        <p:nvSpPr>
          <p:cNvPr id="18" name="Text 16"/>
          <p:cNvSpPr/>
          <p:nvPr/>
        </p:nvSpPr>
        <p:spPr>
          <a:xfrm>
            <a:off x="6299042" y="3656608"/>
            <a:ext cx="5283068" cy="228600"/>
          </a:xfrm>
          <a:prstGeom prst="rect">
            <a:avLst/>
          </a:prstGeom>
          <a:noFill/>
          <a:ln/>
        </p:spPr>
        <p:txBody>
          <a:bodyPr wrap="none" lIns="0" tIns="0" rIns="0" bIns="0" rtlCol="0" anchor="t"/>
          <a:lstStyle/>
          <a:p>
            <a:pPr marL="0" indent="0" algn="l">
              <a:lnSpc>
                <a:spcPct val="100000"/>
              </a:lnSpc>
              <a:buNone/>
            </a:pPr>
            <a:r>
              <a:rPr lang="en-US" sz="1500" dirty="0">
                <a:solidFill>
                  <a:srgbClr val="0F1E26"/>
                </a:solidFill>
                <a:latin typeface="Geist SemiBold" pitchFamily="34" charset="0"/>
                <a:ea typeface="Geist SemiBold" pitchFamily="34" charset="-122"/>
                <a:cs typeface="Geist SemiBold" pitchFamily="34" charset="-120"/>
              </a:rPr>
              <a:t>Text layer</a:t>
            </a:r>
            <a:endParaRPr lang="en-US" sz="1500" dirty="0"/>
          </a:p>
        </p:txBody>
      </p:sp>
      <p:sp>
        <p:nvSpPr>
          <p:cNvPr id="19" name="Text 17"/>
          <p:cNvSpPr/>
          <p:nvPr/>
        </p:nvSpPr>
        <p:spPr>
          <a:xfrm>
            <a:off x="6299042" y="4012208"/>
            <a:ext cx="5283068" cy="205680"/>
          </a:xfrm>
          <a:prstGeom prst="rect">
            <a:avLst/>
          </a:prstGeom>
          <a:noFill/>
          <a:ln/>
        </p:spPr>
        <p:txBody>
          <a:bodyPr wrap="none" lIns="0" tIns="0" rIns="0" bIns="0" rtlCol="0" anchor="t"/>
          <a:lstStyle/>
          <a:p>
            <a:pPr marL="0" indent="0" algn="l">
              <a:lnSpc>
                <a:spcPct val="113000"/>
              </a:lnSpc>
              <a:buNone/>
            </a:pPr>
            <a:r>
              <a:rPr lang="en-US" sz="1200" dirty="0">
                <a:solidFill>
                  <a:srgbClr val="55656E"/>
                </a:solidFill>
                <a:latin typeface="Geist" pitchFamily="34" charset="0"/>
                <a:ea typeface="Geist" pitchFamily="34" charset="-122"/>
                <a:cs typeface="Geist" pitchFamily="34" charset="-120"/>
              </a:rPr>
              <a:t>Unicode / UTF-8 support for Indian-language text</a:t>
            </a:r>
            <a:endParaRPr lang="en-US" sz="1200" dirty="0"/>
          </a:p>
        </p:txBody>
      </p:sp>
      <p:sp>
        <p:nvSpPr>
          <p:cNvPr id="20" name="Shape 18"/>
          <p:cNvSpPr/>
          <p:nvPr/>
        </p:nvSpPr>
        <p:spPr>
          <a:xfrm>
            <a:off x="609585" y="2423616"/>
            <a:ext cx="5283068" cy="12700"/>
          </a:xfrm>
          <a:prstGeom prst="rect">
            <a:avLst/>
          </a:prstGeom>
          <a:solidFill>
            <a:srgbClr val="C9D6DB"/>
          </a:solidFill>
          <a:ln/>
        </p:spPr>
      </p:sp>
      <p:sp>
        <p:nvSpPr>
          <p:cNvPr id="21" name="Shape 19"/>
          <p:cNvSpPr/>
          <p:nvPr/>
        </p:nvSpPr>
        <p:spPr>
          <a:xfrm>
            <a:off x="609585" y="3391297"/>
            <a:ext cx="5283068" cy="12700"/>
          </a:xfrm>
          <a:prstGeom prst="rect">
            <a:avLst/>
          </a:prstGeom>
          <a:solidFill>
            <a:srgbClr val="C9D6DB"/>
          </a:solidFill>
          <a:ln/>
        </p:spPr>
      </p:sp>
      <p:sp>
        <p:nvSpPr>
          <p:cNvPr id="22" name="Shape 20"/>
          <p:cNvSpPr/>
          <p:nvPr/>
        </p:nvSpPr>
        <p:spPr>
          <a:xfrm>
            <a:off x="609585" y="4358977"/>
            <a:ext cx="5283068" cy="12700"/>
          </a:xfrm>
          <a:prstGeom prst="rect">
            <a:avLst/>
          </a:prstGeom>
          <a:solidFill>
            <a:srgbClr val="C9D6DB"/>
          </a:solidFill>
          <a:ln/>
        </p:spPr>
      </p:sp>
      <p:sp>
        <p:nvSpPr>
          <p:cNvPr id="23" name="Shape 21"/>
          <p:cNvSpPr/>
          <p:nvPr/>
        </p:nvSpPr>
        <p:spPr>
          <a:xfrm>
            <a:off x="609585" y="5326658"/>
            <a:ext cx="5283068" cy="12700"/>
          </a:xfrm>
          <a:prstGeom prst="rect">
            <a:avLst/>
          </a:prstGeom>
          <a:solidFill>
            <a:srgbClr val="C9D6DB"/>
          </a:solidFill>
          <a:ln/>
        </p:spPr>
      </p:sp>
      <p:sp>
        <p:nvSpPr>
          <p:cNvPr id="24" name="Shape 22"/>
          <p:cNvSpPr/>
          <p:nvPr/>
        </p:nvSpPr>
        <p:spPr>
          <a:xfrm>
            <a:off x="6089498" y="1379141"/>
            <a:ext cx="12700" cy="4718348"/>
          </a:xfrm>
          <a:prstGeom prst="rect">
            <a:avLst/>
          </a:prstGeom>
          <a:solidFill>
            <a:srgbClr val="C9D6DB"/>
          </a:solidFill>
          <a:ln/>
        </p:spPr>
      </p:sp>
      <p:sp>
        <p:nvSpPr>
          <p:cNvPr id="25" name="Shape 23"/>
          <p:cNvSpPr/>
          <p:nvPr/>
        </p:nvSpPr>
        <p:spPr>
          <a:xfrm>
            <a:off x="6299042" y="2273697"/>
            <a:ext cx="5283068" cy="12700"/>
          </a:xfrm>
          <a:prstGeom prst="rect">
            <a:avLst/>
          </a:prstGeom>
          <a:solidFill>
            <a:srgbClr val="C9D6DB"/>
          </a:solidFill>
          <a:ln/>
        </p:spPr>
      </p:sp>
      <p:sp>
        <p:nvSpPr>
          <p:cNvPr id="26" name="Shape 24"/>
          <p:cNvSpPr/>
          <p:nvPr/>
        </p:nvSpPr>
        <p:spPr>
          <a:xfrm>
            <a:off x="6299042" y="3447058"/>
            <a:ext cx="5283068" cy="12700"/>
          </a:xfrm>
          <a:prstGeom prst="rect">
            <a:avLst/>
          </a:prstGeom>
          <a:solidFill>
            <a:srgbClr val="C9D6DB"/>
          </a:solidFill>
          <a:ln/>
        </p:spPr>
      </p:sp>
      <p:sp>
        <p:nvSpPr>
          <p:cNvPr id="27" name="Text 25"/>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05</a:t>
            </a:r>
            <a:endParaRPr lang="en-US" sz="1050" dirty="0"/>
          </a:p>
        </p:txBody>
      </p:sp>
      <p:pic>
        <p:nvPicPr>
          <p:cNvPr id="28" name="Picture 27">
            <a:extLst>
              <a:ext uri="{FF2B5EF4-FFF2-40B4-BE49-F238E27FC236}">
                <a16:creationId xmlns:a16="http://schemas.microsoft.com/office/drawing/2014/main" id="{9CFA5460-003A-89ED-8A52-6340A2A36A1A}"/>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28687"/>
          </a:xfrm>
          <a:prstGeom prst="rect">
            <a:avLst/>
          </a:prstGeom>
          <a:noFill/>
          <a:ln/>
        </p:spPr>
        <p:txBody>
          <a:bodyPr wrap="none" lIns="0" tIns="0" rIns="0" bIns="0" rtlCol="0" anchor="t"/>
          <a:lstStyle/>
          <a:p>
            <a:pPr marL="0" indent="0" algn="l">
              <a:lnSpc>
                <a:spcPct val="108000"/>
              </a:lnSpc>
              <a:buNone/>
            </a:pPr>
            <a:r>
              <a:rPr lang="en-US" sz="800" kern="0" spc="62" dirty="0">
                <a:solidFill>
                  <a:srgbClr val="55656E"/>
                </a:solidFill>
                <a:latin typeface="Geist Mono Medium" pitchFamily="34" charset="0"/>
                <a:ea typeface="Geist Mono Medium" pitchFamily="34" charset="-122"/>
                <a:cs typeface="Geist Mono Medium" pitchFamily="34" charset="-120"/>
              </a:rPr>
              <a:t>PROJECT TARGETS</a:t>
            </a:r>
            <a:endParaRPr lang="en-US" sz="800" dirty="0"/>
          </a:p>
        </p:txBody>
      </p:sp>
      <p:sp>
        <p:nvSpPr>
          <p:cNvPr id="3" name="Text 1"/>
          <p:cNvSpPr/>
          <p:nvPr/>
        </p:nvSpPr>
        <p:spPr>
          <a:xfrm>
            <a:off x="609585" y="774998"/>
            <a:ext cx="10972526" cy="330597"/>
          </a:xfrm>
          <a:prstGeom prst="rect">
            <a:avLst/>
          </a:prstGeom>
          <a:noFill/>
          <a:ln/>
        </p:spPr>
        <p:txBody>
          <a:bodyPr wrap="none" lIns="0" tIns="0" rIns="0" bIns="0" rtlCol="0" anchor="t"/>
          <a:lstStyle/>
          <a:p>
            <a:pPr marL="0" indent="0" algn="l">
              <a:lnSpc>
                <a:spcPct val="90000"/>
              </a:lnSpc>
              <a:buNone/>
            </a:pPr>
            <a:r>
              <a:rPr lang="en-US" sz="2400" kern="0" spc="-60" dirty="0">
                <a:solidFill>
                  <a:srgbClr val="0F1E26"/>
                </a:solidFill>
                <a:latin typeface="Geist Medium" pitchFamily="34" charset="0"/>
                <a:ea typeface="Geist Medium" pitchFamily="34" charset="-122"/>
                <a:cs typeface="Geist Medium" pitchFamily="34" charset="-120"/>
              </a:rPr>
              <a:t>Objectives</a:t>
            </a:r>
            <a:endParaRPr lang="en-US" sz="2400" dirty="0"/>
          </a:p>
        </p:txBody>
      </p:sp>
      <p:sp>
        <p:nvSpPr>
          <p:cNvPr id="4" name="Text 2"/>
          <p:cNvSpPr/>
          <p:nvPr/>
        </p:nvSpPr>
        <p:spPr>
          <a:xfrm>
            <a:off x="609585" y="1236166"/>
            <a:ext cx="10972526" cy="198934"/>
          </a:xfrm>
          <a:prstGeom prst="rect">
            <a:avLst/>
          </a:prstGeom>
          <a:noFill/>
          <a:ln/>
        </p:spPr>
        <p:txBody>
          <a:bodyPr wrap="none" lIns="0" tIns="0" rIns="0" bIns="0" rtlCol="0" anchor="t"/>
          <a:lstStyle/>
          <a:p>
            <a:pPr marL="0" indent="0" algn="l">
              <a:lnSpc>
                <a:spcPct val="108000"/>
              </a:lnSpc>
              <a:buNone/>
            </a:pPr>
            <a:r>
              <a:rPr lang="en-US" sz="1200" kern="0" spc="-6" dirty="0">
                <a:solidFill>
                  <a:srgbClr val="55656E"/>
                </a:solidFill>
                <a:latin typeface="Geist" pitchFamily="34" charset="0"/>
                <a:ea typeface="Geist" pitchFamily="34" charset="-122"/>
                <a:cs typeface="Geist" pitchFamily="34" charset="-120"/>
              </a:rPr>
              <a:t>Eight benchmark milestones driving the implementation and evaluation of IndicSearch.</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3035170659"/>
              </p:ext>
            </p:extLst>
          </p:nvPr>
        </p:nvGraphicFramePr>
        <p:xfrm>
          <a:off x="609585" y="1591072"/>
          <a:ext cx="10972526" cy="5166306"/>
        </p:xfrm>
        <a:graphic>
          <a:graphicData uri="http://schemas.openxmlformats.org/drawingml/2006/table">
            <a:tbl>
              <a:tblPr/>
              <a:tblGrid>
                <a:gridCol w="1536154">
                  <a:extLst>
                    <a:ext uri="{9D8B030D-6E8A-4147-A177-3AD203B41FA5}">
                      <a16:colId xmlns:a16="http://schemas.microsoft.com/office/drawing/2014/main" val="20000"/>
                    </a:ext>
                  </a:extLst>
                </a:gridCol>
                <a:gridCol w="3950109">
                  <a:extLst>
                    <a:ext uri="{9D8B030D-6E8A-4147-A177-3AD203B41FA5}">
                      <a16:colId xmlns:a16="http://schemas.microsoft.com/office/drawing/2014/main" val="20001"/>
                    </a:ext>
                  </a:extLst>
                </a:gridCol>
                <a:gridCol w="3950109">
                  <a:extLst>
                    <a:ext uri="{9D8B030D-6E8A-4147-A177-3AD203B41FA5}">
                      <a16:colId xmlns:a16="http://schemas.microsoft.com/office/drawing/2014/main" val="20002"/>
                    </a:ext>
                  </a:extLst>
                </a:gridCol>
                <a:gridCol w="1536154">
                  <a:extLst>
                    <a:ext uri="{9D8B030D-6E8A-4147-A177-3AD203B41FA5}">
                      <a16:colId xmlns:a16="http://schemas.microsoft.com/office/drawing/2014/main" val="20003"/>
                    </a:ext>
                  </a:extLst>
                </a:gridCol>
              </a:tblGrid>
              <a:tr h="358369">
                <a:tc>
                  <a:txBody>
                    <a:bodyPr/>
                    <a:lstStyle/>
                    <a:p>
                      <a:pPr marL="0" indent="0" algn="l">
                        <a:buNone/>
                      </a:pPr>
                      <a:r>
                        <a:rPr lang="en-US" sz="1200" kern="0" spc="60" dirty="0">
                          <a:solidFill>
                            <a:srgbClr val="0F1E26"/>
                          </a:solidFill>
                          <a:latin typeface="Geist" pitchFamily="34" charset="0"/>
                          <a:ea typeface="Geist" pitchFamily="34" charset="-122"/>
                          <a:cs typeface="Geist" pitchFamily="34" charset="-120"/>
                        </a:rPr>
                        <a:t>TARGET</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CORE OBJECTIVE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TECHNICAL IMPLEMENTATION &amp; SCOPE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0">
                          <a:solidFill>
                            <a:srgbClr val="0F1E26"/>
                          </a:solidFill>
                          <a:latin typeface="Geist" pitchFamily="34" charset="0"/>
                          <a:ea typeface="Geist" pitchFamily="34" charset="-122"/>
                          <a:cs typeface="Geist" pitchFamily="34" charset="-120"/>
                        </a:rPr>
                        <a:t>CATEGORY</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F7FAFB"/>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0"/>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OBJ-01</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DSA-based search engine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Build an efficient keyword-based retrieval engine.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Custom in-memory index pipelines replacing linear file scanning.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CORE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1"/>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OBJ-02</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Indian-language Wikipedia search</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Support querying across diverse Indian languages.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Robust Unicode UTF-8 handling for scripts such as Hindi, Telugu, and Tamil.</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LANGUAGE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2"/>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OBJ-03</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Inverted Index architecture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Implement fast keyword-to-document mapping.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Posting list structures allowing instant candidate article identification.</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INDEXING</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3"/>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OBJ-04</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HashMap storage &amp; frequencies</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Efficient document caching and score tracking.</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Average O(1) access for term occurrence counts and document metadata.</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STORAGE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4"/>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OBJ-05</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Trie-based prefix suggestions</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Real-time autocomplete for vernacular keywords.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Character-level Trie traversal executing as user types in the search bar.</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UX / DSA</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5"/>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OBJ-06</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Merge Sort frequency ranking</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Order retrieved articles by keyword relevance.</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Guaranteed O(n \log n) divide-and-conquer sorting by match frequency.</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ALGORITHM</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6"/>
                  </a:ext>
                </a:extLst>
              </a:tr>
              <a:tr h="588749">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OBJ-07</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b="1">
                          <a:solidFill>
                            <a:srgbClr val="2A3A43"/>
                          </a:solidFill>
                          <a:latin typeface="Geist" pitchFamily="34" charset="0"/>
                          <a:ea typeface="Geist" pitchFamily="34" charset="-122"/>
                          <a:cs typeface="Geist" pitchFamily="34" charset="-120"/>
                        </a:rPr>
                        <a:t>Interactive web interface</a:t>
                      </a:r>
                      <a:endParaRPr lang="en-US" sz="1200">
                        <a:latin typeface="Geist" charset="0"/>
                        <a:ea typeface="Geist" charset="0"/>
                        <a:cs typeface="Geist" charset="0"/>
                      </a:endParaRPr>
                    </a:p>
                    <a:p>
                      <a:pPr marL="0" indent="0" algn="l">
                        <a:buNone/>
                      </a:pPr>
                      <a:r>
                        <a:rPr lang="en-US" sz="1200" b="1">
                          <a:solidFill>
                            <a:srgbClr val="55656E"/>
                          </a:solidFill>
                          <a:latin typeface="Geist" pitchFamily="34" charset="0"/>
                          <a:ea typeface="Geist" pitchFamily="34" charset="-122"/>
                          <a:cs typeface="Geist" pitchFamily="34" charset="-120"/>
                        </a:rPr>
                        <a:t>Provide an accessible, responsive search UI.</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Intuitive query submission, real-time metrics, and snippet preview cards.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tc>
                  <a:txBody>
                    <a:bodyPr/>
                    <a:lstStyle/>
                    <a:p>
                      <a:pPr marL="0" indent="0" algn="l">
                        <a:buNone/>
                      </a:pPr>
                      <a:r>
                        <a:rPr lang="en-US" sz="1200" kern="0" spc="64">
                          <a:solidFill>
                            <a:srgbClr val="2A3A43"/>
                          </a:solidFill>
                          <a:latin typeface="Geist" pitchFamily="34" charset="0"/>
                          <a:ea typeface="Geist" pitchFamily="34" charset="-122"/>
                          <a:cs typeface="Geist" pitchFamily="34" charset="-120"/>
                        </a:rPr>
                        <a:t>INTERFACE</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B7C3C9"/>
                      </a:solidFill>
                      <a:prstDash val="solid"/>
                      <a:round/>
                      <a:headEnd type="none" w="med" len="med"/>
                      <a:tailEnd type="none" w="med" len="med"/>
                    </a:lnB>
                  </a:tcPr>
                </a:tc>
                <a:extLst>
                  <a:ext uri="{0D108BD9-81ED-4DB2-BD59-A6C34878D82A}">
                    <a16:rowId xmlns:a16="http://schemas.microsoft.com/office/drawing/2014/main" val="10007"/>
                  </a:ext>
                </a:extLst>
              </a:tr>
              <a:tr h="582400">
                <a:tc>
                  <a:txBody>
                    <a:bodyPr/>
                    <a:lstStyle/>
                    <a:p>
                      <a:pPr marL="0" indent="0" algn="l">
                        <a:buNone/>
                      </a:pPr>
                      <a:r>
                        <a:rPr lang="en-US" sz="1200" b="1">
                          <a:solidFill>
                            <a:srgbClr val="2A3A43"/>
                          </a:solidFill>
                          <a:latin typeface="Geist" pitchFamily="34" charset="0"/>
                          <a:ea typeface="Geist" pitchFamily="34" charset="-122"/>
                          <a:cs typeface="Geist" pitchFamily="34" charset="-120"/>
                        </a:rPr>
                        <a:t>OBJ-08</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b="1" dirty="0">
                          <a:solidFill>
                            <a:srgbClr val="2A3A43"/>
                          </a:solidFill>
                          <a:latin typeface="Geist" pitchFamily="34" charset="0"/>
                          <a:ea typeface="Geist" pitchFamily="34" charset="-122"/>
                          <a:cs typeface="Geist" pitchFamily="34" charset="-120"/>
                        </a:rPr>
                        <a:t>Real-world DSA demonstration</a:t>
                      </a:r>
                      <a:endParaRPr lang="en-US" sz="1200" dirty="0">
                        <a:latin typeface="Geist" charset="0"/>
                        <a:ea typeface="Geist" charset="0"/>
                        <a:cs typeface="Geist" charset="0"/>
                      </a:endParaRPr>
                    </a:p>
                    <a:p>
                      <a:pPr marL="0" indent="0" algn="l">
                        <a:buNone/>
                      </a:pPr>
                      <a:r>
                        <a:rPr lang="en-US" sz="1200" b="1" dirty="0">
                          <a:solidFill>
                            <a:srgbClr val="55656E"/>
                          </a:solidFill>
                          <a:latin typeface="Geist" pitchFamily="34" charset="0"/>
                          <a:ea typeface="Geist" pitchFamily="34" charset="-122"/>
                          <a:cs typeface="Geist" pitchFamily="34" charset="-120"/>
                        </a:rPr>
                        <a:t>Prove textbook concepts on live web APIs.</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a:solidFill>
                            <a:srgbClr val="2A3A43"/>
                          </a:solidFill>
                          <a:latin typeface="Geist" pitchFamily="34" charset="0"/>
                          <a:ea typeface="Geist" pitchFamily="34" charset="-122"/>
                          <a:cs typeface="Geist" pitchFamily="34" charset="-120"/>
                        </a:rPr>
                        <a:t>Integration of theoretical data structures with live Wikipedia MediaWiki API.</a:t>
                      </a:r>
                      <a:endParaRPr lang="en-US" sz="1200" dirty="0">
                        <a:latin typeface="Geist" charset="0"/>
                        <a:ea typeface="Geist" charset="0"/>
                        <a:cs typeface="Geist"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tc>
                  <a:txBody>
                    <a:bodyPr/>
                    <a:lstStyle/>
                    <a:p>
                      <a:pPr marL="0" indent="0" algn="l">
                        <a:buNone/>
                      </a:pPr>
                      <a:r>
                        <a:rPr lang="en-US" sz="1200" kern="0" spc="64" dirty="0">
                          <a:solidFill>
                            <a:srgbClr val="2A3A43"/>
                          </a:solidFill>
                          <a:latin typeface="Geist" pitchFamily="34" charset="0"/>
                          <a:ea typeface="Geist" pitchFamily="34" charset="-122"/>
                          <a:cs typeface="Geist" pitchFamily="34" charset="-120"/>
                        </a:rPr>
                        <a:t>PRACTICAL</a:t>
                      </a:r>
                      <a:endParaRPr lang="en-US" sz="1200" dirty="0">
                        <a:latin typeface="Geist Mono" charset="0"/>
                        <a:ea typeface="Geist Mono" charset="0"/>
                        <a:cs typeface="Geist Mono" charset="0"/>
                      </a:endParaRPr>
                    </a:p>
                  </a:txBody>
                  <a:tcPr marL="126997" marR="126997" marT="114297" marB="114297" anchor="ctr">
                    <a:lnL w="12700" cap="flat" cmpd="sng" algn="ctr">
                      <a:solidFill>
                        <a:srgbClr val="F7FAFB"/>
                      </a:solidFill>
                      <a:prstDash val="solid"/>
                      <a:round/>
                      <a:headEnd type="none" w="med" len="med"/>
                      <a:tailEnd type="none" w="med" len="med"/>
                    </a:lnL>
                    <a:lnR w="12700" cap="flat" cmpd="sng" algn="ctr">
                      <a:solidFill>
                        <a:srgbClr val="F7FAFB"/>
                      </a:solidFill>
                      <a:prstDash val="solid"/>
                      <a:round/>
                      <a:headEnd type="none" w="med" len="med"/>
                      <a:tailEnd type="none" w="med" len="med"/>
                    </a:lnR>
                    <a:lnT w="12700" cap="flat" cmpd="sng" algn="ctr">
                      <a:solidFill>
                        <a:srgbClr val="B7C3C9"/>
                      </a:solidFill>
                      <a:prstDash val="solid"/>
                      <a:round/>
                      <a:headEnd type="none" w="med" len="med"/>
                      <a:tailEnd type="none" w="med" len="med"/>
                    </a:lnT>
                    <a:lnB w="12700" cap="flat" cmpd="sng" algn="ctr">
                      <a:solidFill>
                        <a:srgbClr val="F7FAFB"/>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4"/>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06</a:t>
            </a:r>
            <a:endParaRPr lang="en-US" sz="1050" dirty="0"/>
          </a:p>
        </p:txBody>
      </p:sp>
      <p:pic>
        <p:nvPicPr>
          <p:cNvPr id="8" name="Picture 7">
            <a:extLst>
              <a:ext uri="{FF2B5EF4-FFF2-40B4-BE49-F238E27FC236}">
                <a16:creationId xmlns:a16="http://schemas.microsoft.com/office/drawing/2014/main" id="{824071D1-FC91-81A6-FB78-6EAC2CDE4636}"/>
              </a:ext>
            </a:extLst>
          </p:cNvPr>
          <p:cNvPicPr>
            <a:picLocks noChangeAspect="1"/>
          </p:cNvPicPr>
          <p:nvPr/>
        </p:nvPicPr>
        <p:blipFill>
          <a:blip r:embed="rId3"/>
          <a:stretch>
            <a:fillRect/>
          </a:stretch>
        </p:blipFill>
        <p:spPr>
          <a:xfrm>
            <a:off x="11121689" y="6456562"/>
            <a:ext cx="978575" cy="3500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55656E"/>
                </a:solidFill>
                <a:latin typeface="Geist Mono Medium" pitchFamily="34" charset="0"/>
                <a:ea typeface="Geist Mono Medium" pitchFamily="34" charset="-122"/>
                <a:cs typeface="Geist Mono Medium" pitchFamily="34" charset="-120"/>
              </a:rPr>
              <a:t>EXECUTION ARCHITECTURE</a:t>
            </a:r>
            <a:endParaRPr lang="en-US" sz="1100" dirty="0"/>
          </a:p>
        </p:txBody>
      </p:sp>
      <p:sp>
        <p:nvSpPr>
          <p:cNvPr id="3" name="Text 1"/>
          <p:cNvSpPr/>
          <p:nvPr/>
        </p:nvSpPr>
        <p:spPr>
          <a:xfrm>
            <a:off x="609585" y="954386"/>
            <a:ext cx="10972526"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System Flow</a:t>
            </a:r>
            <a:endParaRPr lang="en-US" sz="3400" dirty="0"/>
          </a:p>
        </p:txBody>
      </p:sp>
      <p:sp>
        <p:nvSpPr>
          <p:cNvPr id="4" name="Text 2"/>
          <p:cNvSpPr/>
          <p:nvPr/>
        </p:nvSpPr>
        <p:spPr>
          <a:xfrm>
            <a:off x="609585" y="1540073"/>
            <a:ext cx="10972526" cy="280591"/>
          </a:xfrm>
          <a:prstGeom prst="rect">
            <a:avLst/>
          </a:prstGeom>
          <a:noFill/>
          <a:ln/>
        </p:spPr>
        <p:txBody>
          <a:bodyPr wrap="none" lIns="0" tIns="0" rIns="0" bIns="0" rtlCol="0" anchor="t"/>
          <a:lstStyle/>
          <a:p>
            <a:pPr marL="0" indent="0" algn="l">
              <a:lnSpc>
                <a:spcPct val="108000"/>
              </a:lnSpc>
              <a:buNone/>
            </a:pPr>
            <a:r>
              <a:rPr lang="en-US" sz="1700" kern="0" spc="-8" dirty="0">
                <a:solidFill>
                  <a:srgbClr val="55656E"/>
                </a:solidFill>
                <a:latin typeface="Geist" pitchFamily="34" charset="0"/>
                <a:ea typeface="Geist" pitchFamily="34" charset="-122"/>
                <a:cs typeface="Geist" pitchFamily="34" charset="-120"/>
              </a:rPr>
              <a:t>Step-by-step query lifecycle alongside the concurrent Trie suggestion side-flow.</a:t>
            </a:r>
            <a:endParaRPr lang="en-US" sz="1700" dirty="0"/>
          </a:p>
        </p:txBody>
      </p:sp>
      <p:sp>
        <p:nvSpPr>
          <p:cNvPr id="5" name="Text 3"/>
          <p:cNvSpPr/>
          <p:nvPr/>
        </p:nvSpPr>
        <p:spPr>
          <a:xfrm>
            <a:off x="609585" y="2252464"/>
            <a:ext cx="7904064" cy="3846495"/>
          </a:xfrm>
          <a:prstGeom prst="rect">
            <a:avLst/>
          </a:prstGeom>
          <a:noFill/>
          <a:ln/>
        </p:spPr>
        <p:txBody>
          <a:bodyPr wrap="square" lIns="0" tIns="0" rIns="0" bIns="0" rtlCol="0" anchor="t">
            <a:noAutofit/>
          </a:bodyPr>
          <a:lstStyle/>
          <a:p>
            <a:pPr marL="284480" indent="-284480" algn="l">
              <a:lnSpc>
                <a:spcPct val="121000"/>
              </a:lnSpc>
              <a:buSzPct val="100000"/>
              <a:buFont typeface="+mj-lt"/>
              <a:buAutoNum type="arabicPeriod"/>
            </a:pPr>
            <a:r>
              <a:rPr lang="en-US" sz="1900" b="1" dirty="0">
                <a:solidFill>
                  <a:srgbClr val="2A3A43"/>
                </a:solidFill>
                <a:latin typeface="Geist Bold" pitchFamily="34" charset="0"/>
                <a:ea typeface="Geist Bold" pitchFamily="34" charset="-122"/>
                <a:cs typeface="Geist Bold" pitchFamily="34" charset="-120"/>
              </a:rPr>
              <a:t>User:</a:t>
            </a:r>
            <a:r>
              <a:rPr lang="en-US" sz="1900" dirty="0">
                <a:solidFill>
                  <a:srgbClr val="2A3A43"/>
                </a:solidFill>
                <a:latin typeface="Geist" pitchFamily="34" charset="0"/>
                <a:ea typeface="Geist" pitchFamily="34" charset="-122"/>
                <a:cs typeface="Geist" pitchFamily="34" charset="-120"/>
              </a:rPr>
              <a:t> enter keyword or query</a:t>
            </a:r>
            <a:endParaRPr lang="en-US" sz="1900" dirty="0"/>
          </a:p>
          <a:p>
            <a:pPr marL="284480" indent="-284480" algn="l">
              <a:lnSpc>
                <a:spcPct val="121000"/>
              </a:lnSpc>
              <a:buSzPct val="100000"/>
              <a:buFont typeface="+mj-lt"/>
              <a:buAutoNum type="arabicPeriod" startAt="2"/>
            </a:pPr>
            <a:r>
              <a:rPr lang="en-US" sz="1900" dirty="0">
                <a:solidFill>
                  <a:srgbClr val="2A3A43"/>
                </a:solidFill>
                <a:latin typeface="Geist" pitchFamily="34" charset="0"/>
                <a:ea typeface="Geist" pitchFamily="34" charset="-122"/>
                <a:cs typeface="Geist" pitchFamily="34" charset="-120"/>
              </a:rPr>
              <a:t>Select language</a:t>
            </a:r>
            <a:endParaRPr lang="en-US" sz="1900" dirty="0"/>
          </a:p>
          <a:p>
            <a:pPr marL="284480" indent="-284480" algn="l">
              <a:lnSpc>
                <a:spcPct val="121000"/>
              </a:lnSpc>
              <a:buSzPct val="100000"/>
              <a:buFont typeface="+mj-lt"/>
              <a:buAutoNum type="arabicPeriod" startAt="3"/>
            </a:pPr>
            <a:r>
              <a:rPr lang="en-US" sz="1900" b="1" dirty="0">
                <a:solidFill>
                  <a:srgbClr val="2A3A43"/>
                </a:solidFill>
                <a:latin typeface="Geist Bold" pitchFamily="34" charset="0"/>
                <a:ea typeface="Geist Bold" pitchFamily="34" charset="-122"/>
                <a:cs typeface="Geist Bold" pitchFamily="34" charset="-120"/>
              </a:rPr>
              <a:t>Text preprocessing:</a:t>
            </a:r>
            <a:r>
              <a:rPr lang="en-US" sz="1900" dirty="0">
                <a:solidFill>
                  <a:srgbClr val="2A3A43"/>
                </a:solidFill>
                <a:latin typeface="Geist" pitchFamily="34" charset="0"/>
                <a:ea typeface="Geist" pitchFamily="34" charset="-122"/>
                <a:cs typeface="Geist" pitchFamily="34" charset="-120"/>
              </a:rPr>
              <a:t> normalization + tokenization</a:t>
            </a:r>
            <a:endParaRPr lang="en-US" sz="1900" dirty="0"/>
          </a:p>
          <a:p>
            <a:pPr marL="284480" indent="-284480" algn="l">
              <a:lnSpc>
                <a:spcPct val="121000"/>
              </a:lnSpc>
              <a:buSzPct val="100000"/>
              <a:buFont typeface="+mj-lt"/>
              <a:buAutoNum type="arabicPeriod" startAt="4"/>
            </a:pPr>
            <a:r>
              <a:rPr lang="en-US" sz="1900" b="1" dirty="0">
                <a:solidFill>
                  <a:srgbClr val="2A3A43"/>
                </a:solidFill>
                <a:latin typeface="Geist Bold" pitchFamily="34" charset="0"/>
                <a:ea typeface="Geist Bold" pitchFamily="34" charset="-122"/>
                <a:cs typeface="Geist Bold" pitchFamily="34" charset="-120"/>
              </a:rPr>
              <a:t>Wikipedia Search API:</a:t>
            </a:r>
            <a:r>
              <a:rPr lang="en-US" sz="1900" dirty="0">
                <a:solidFill>
                  <a:srgbClr val="2A3A43"/>
                </a:solidFill>
                <a:latin typeface="Geist" pitchFamily="34" charset="0"/>
                <a:ea typeface="Geist" pitchFamily="34" charset="-122"/>
                <a:cs typeface="Geist" pitchFamily="34" charset="-120"/>
              </a:rPr>
              <a:t> retrieve candidate documents</a:t>
            </a:r>
            <a:endParaRPr lang="en-US" sz="1900" dirty="0"/>
          </a:p>
          <a:p>
            <a:pPr marL="284480" indent="-284480" algn="l">
              <a:lnSpc>
                <a:spcPct val="121000"/>
              </a:lnSpc>
              <a:buSzPct val="100000"/>
              <a:buFont typeface="+mj-lt"/>
              <a:buAutoNum type="arabicPeriod" startAt="5"/>
            </a:pPr>
            <a:r>
              <a:rPr lang="en-US" sz="1900" b="1" dirty="0">
                <a:solidFill>
                  <a:srgbClr val="2A3A43"/>
                </a:solidFill>
                <a:latin typeface="Geist Bold" pitchFamily="34" charset="0"/>
                <a:ea typeface="Geist Bold" pitchFamily="34" charset="-122"/>
                <a:cs typeface="Geist Bold" pitchFamily="34" charset="-120"/>
              </a:rPr>
              <a:t>HashMap:</a:t>
            </a:r>
            <a:r>
              <a:rPr lang="en-US" sz="1900" dirty="0">
                <a:solidFill>
                  <a:srgbClr val="2A3A43"/>
                </a:solidFill>
                <a:latin typeface="Geist" pitchFamily="34" charset="0"/>
                <a:ea typeface="Geist" pitchFamily="34" charset="-122"/>
                <a:cs typeface="Geist" pitchFamily="34" charset="-120"/>
              </a:rPr>
              <a:t> store documents</a:t>
            </a:r>
            <a:endParaRPr lang="en-US" sz="1900" dirty="0"/>
          </a:p>
          <a:p>
            <a:pPr marL="284480" indent="-284480" algn="l">
              <a:lnSpc>
                <a:spcPct val="121000"/>
              </a:lnSpc>
              <a:buSzPct val="100000"/>
              <a:buFont typeface="+mj-lt"/>
              <a:buAutoNum type="arabicPeriod" startAt="6"/>
            </a:pPr>
            <a:r>
              <a:rPr lang="en-US" sz="1900" b="1" dirty="0">
                <a:solidFill>
                  <a:srgbClr val="2A3A43"/>
                </a:solidFill>
                <a:latin typeface="Geist Bold" pitchFamily="34" charset="0"/>
                <a:ea typeface="Geist Bold" pitchFamily="34" charset="-122"/>
                <a:cs typeface="Geist Bold" pitchFamily="34" charset="-120"/>
              </a:rPr>
              <a:t>Inverted Index:</a:t>
            </a:r>
            <a:r>
              <a:rPr lang="en-US" sz="1900" dirty="0">
                <a:solidFill>
                  <a:srgbClr val="2A3A43"/>
                </a:solidFill>
                <a:latin typeface="Geist" pitchFamily="34" charset="0"/>
                <a:ea typeface="Geist" pitchFamily="34" charset="-122"/>
                <a:cs typeface="Geist" pitchFamily="34" charset="-120"/>
              </a:rPr>
              <a:t> build or apply keyword mapping</a:t>
            </a:r>
            <a:endParaRPr lang="en-US" sz="1900" dirty="0"/>
          </a:p>
          <a:p>
            <a:pPr marL="284480" indent="-284480" algn="l">
              <a:lnSpc>
                <a:spcPct val="121000"/>
              </a:lnSpc>
              <a:buSzPct val="100000"/>
              <a:buFont typeface="+mj-lt"/>
              <a:buAutoNum type="arabicPeriod" startAt="7"/>
            </a:pPr>
            <a:r>
              <a:rPr lang="en-US" sz="1900" dirty="0">
                <a:solidFill>
                  <a:srgbClr val="2A3A43"/>
                </a:solidFill>
                <a:latin typeface="Geist" pitchFamily="34" charset="0"/>
                <a:ea typeface="Geist" pitchFamily="34" charset="-122"/>
                <a:cs typeface="Geist" pitchFamily="34" charset="-120"/>
              </a:rPr>
              <a:t>Match keyword frequency and calculate document scores</a:t>
            </a:r>
            <a:endParaRPr lang="en-US" sz="1900" dirty="0"/>
          </a:p>
          <a:p>
            <a:pPr marL="284480" indent="-284480" algn="l">
              <a:lnSpc>
                <a:spcPct val="121000"/>
              </a:lnSpc>
              <a:buSzPct val="100000"/>
              <a:buFont typeface="+mj-lt"/>
              <a:buAutoNum type="arabicPeriod" startAt="8"/>
            </a:pPr>
            <a:r>
              <a:rPr lang="en-US" sz="1900" b="1" dirty="0">
                <a:solidFill>
                  <a:srgbClr val="2A3A43"/>
                </a:solidFill>
                <a:latin typeface="Geist Bold" pitchFamily="34" charset="0"/>
                <a:ea typeface="Geist Bold" pitchFamily="34" charset="-122"/>
                <a:cs typeface="Geist Bold" pitchFamily="34" charset="-120"/>
              </a:rPr>
              <a:t>Merge Sort:</a:t>
            </a:r>
            <a:r>
              <a:rPr lang="en-US" sz="1900" dirty="0">
                <a:solidFill>
                  <a:srgbClr val="2A3A43"/>
                </a:solidFill>
                <a:latin typeface="Geist" pitchFamily="34" charset="0"/>
                <a:ea typeface="Geist" pitchFamily="34" charset="-122"/>
                <a:cs typeface="Geist" pitchFamily="34" charset="-120"/>
              </a:rPr>
              <a:t> rank results</a:t>
            </a:r>
            <a:endParaRPr lang="en-US" sz="1900" dirty="0"/>
          </a:p>
          <a:p>
            <a:pPr marL="284480" indent="-284480" algn="l">
              <a:lnSpc>
                <a:spcPct val="121000"/>
              </a:lnSpc>
              <a:buSzPct val="100000"/>
              <a:buFont typeface="+mj-lt"/>
              <a:buAutoNum type="arabicPeriod" startAt="9"/>
            </a:pPr>
            <a:r>
              <a:rPr lang="en-US" sz="1900" dirty="0">
                <a:solidFill>
                  <a:srgbClr val="2A3A43"/>
                </a:solidFill>
                <a:latin typeface="Geist" pitchFamily="34" charset="0"/>
                <a:ea typeface="Geist" pitchFamily="34" charset="-122"/>
                <a:cs typeface="Geist" pitchFamily="34" charset="-120"/>
              </a:rPr>
              <a:t>Display results</a:t>
            </a:r>
            <a:endParaRPr lang="en-US" sz="1900" dirty="0"/>
          </a:p>
          <a:p>
            <a:pPr marL="284480" indent="-284480" algn="l">
              <a:lnSpc>
                <a:spcPct val="121000"/>
              </a:lnSpc>
              <a:buSzPct val="100000"/>
              <a:buFont typeface="+mj-lt"/>
              <a:buAutoNum type="arabicPeriod" startAt="10"/>
            </a:pPr>
            <a:r>
              <a:rPr lang="en-US" sz="1900" b="1" dirty="0">
                <a:solidFill>
                  <a:srgbClr val="2A3A43"/>
                </a:solidFill>
                <a:latin typeface="Geist Bold" pitchFamily="34" charset="0"/>
                <a:ea typeface="Geist Bold" pitchFamily="34" charset="-122"/>
                <a:cs typeface="Geist Bold" pitchFamily="34" charset="-120"/>
              </a:rPr>
              <a:t>Trie:</a:t>
            </a:r>
            <a:r>
              <a:rPr lang="en-US" sz="1900" dirty="0">
                <a:solidFill>
                  <a:srgbClr val="2A3A43"/>
                </a:solidFill>
                <a:latin typeface="Geist" pitchFamily="34" charset="0"/>
                <a:ea typeface="Geist" pitchFamily="34" charset="-122"/>
                <a:cs typeface="Geist" pitchFamily="34" charset="-120"/>
              </a:rPr>
              <a:t> provide search suggestions</a:t>
            </a:r>
            <a:endParaRPr lang="en-US" sz="1900" dirty="0"/>
          </a:p>
        </p:txBody>
      </p:sp>
      <p:sp>
        <p:nvSpPr>
          <p:cNvPr id="6" name="Shape 4"/>
          <p:cNvSpPr/>
          <p:nvPr/>
        </p:nvSpPr>
        <p:spPr>
          <a:xfrm>
            <a:off x="8789371" y="2468661"/>
            <a:ext cx="2611372" cy="3434953"/>
          </a:xfrm>
          <a:prstGeom prst="rect">
            <a:avLst/>
          </a:prstGeom>
          <a:solidFill>
            <a:srgbClr val="E3ECEF"/>
          </a:solidFill>
          <a:ln/>
        </p:spPr>
        <p:txBody>
          <a:bodyPr/>
          <a:lstStyle/>
          <a:p>
            <a:endParaRPr lang="en-GB" dirty="0"/>
          </a:p>
        </p:txBody>
      </p:sp>
      <p:sp>
        <p:nvSpPr>
          <p:cNvPr id="7" name="Text 5"/>
          <p:cNvSpPr/>
          <p:nvPr/>
        </p:nvSpPr>
        <p:spPr>
          <a:xfrm>
            <a:off x="9017965" y="2697261"/>
            <a:ext cx="2382778" cy="181570"/>
          </a:xfrm>
          <a:prstGeom prst="rect">
            <a:avLst/>
          </a:prstGeom>
          <a:noFill/>
          <a:ln/>
        </p:spPr>
        <p:txBody>
          <a:bodyPr wrap="none" lIns="0" tIns="0" rIns="0" bIns="0" rtlCol="0" anchor="t"/>
          <a:lstStyle/>
          <a:p>
            <a:pPr marL="0" indent="0" algn="l">
              <a:lnSpc>
                <a:spcPct val="108000"/>
              </a:lnSpc>
              <a:buNone/>
            </a:pPr>
            <a:r>
              <a:rPr lang="en-US" sz="1100" kern="0" spc="88" dirty="0">
                <a:solidFill>
                  <a:srgbClr val="000000"/>
                </a:solidFill>
                <a:latin typeface="Geist Mono Medium" pitchFamily="34" charset="0"/>
                <a:ea typeface="Geist Mono Medium" pitchFamily="34" charset="-122"/>
                <a:cs typeface="Geist Mono Medium" pitchFamily="34" charset="-120"/>
              </a:rPr>
              <a:t>SUGGESTION SIDE-FLOW</a:t>
            </a:r>
            <a:endParaRPr lang="en-US" sz="1100" dirty="0"/>
          </a:p>
        </p:txBody>
      </p:sp>
      <p:sp>
        <p:nvSpPr>
          <p:cNvPr id="8" name="Text 6"/>
          <p:cNvSpPr/>
          <p:nvPr/>
        </p:nvSpPr>
        <p:spPr>
          <a:xfrm>
            <a:off x="9017965" y="2951856"/>
            <a:ext cx="215418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User Types Prefix</a:t>
            </a:r>
            <a:endParaRPr lang="en-US" sz="1600" dirty="0"/>
          </a:p>
        </p:txBody>
      </p:sp>
      <p:sp>
        <p:nvSpPr>
          <p:cNvPr id="9" name="Text 7"/>
          <p:cNvSpPr/>
          <p:nvPr/>
        </p:nvSpPr>
        <p:spPr>
          <a:xfrm>
            <a:off x="9017965" y="3322637"/>
            <a:ext cx="2382778" cy="257770"/>
          </a:xfrm>
          <a:prstGeom prst="rect">
            <a:avLst/>
          </a:prstGeom>
          <a:noFill/>
          <a:ln/>
        </p:spPr>
        <p:txBody>
          <a:bodyPr wrap="none" lIns="0" tIns="0" rIns="0" bIns="0" rtlCol="0" anchor="t"/>
          <a:lstStyle/>
          <a:p>
            <a:pPr marL="0" indent="0" algn="l">
              <a:lnSpc>
                <a:spcPct val="121000"/>
              </a:lnSpc>
              <a:buNone/>
            </a:pPr>
            <a:r>
              <a:rPr lang="en-US" sz="1400" dirty="0">
                <a:solidFill>
                  <a:srgbClr val="000000"/>
                </a:solidFill>
                <a:latin typeface="Geist" pitchFamily="34" charset="0"/>
                <a:ea typeface="Geist" pitchFamily="34" charset="-122"/>
                <a:cs typeface="Geist" pitchFamily="34" charset="-120"/>
              </a:rPr>
              <a:t>↓</a:t>
            </a:r>
            <a:endParaRPr lang="en-US" sz="1400" dirty="0"/>
          </a:p>
        </p:txBody>
      </p:sp>
      <p:sp>
        <p:nvSpPr>
          <p:cNvPr id="10" name="Text 8"/>
          <p:cNvSpPr/>
          <p:nvPr/>
        </p:nvSpPr>
        <p:spPr>
          <a:xfrm>
            <a:off x="9017965" y="3739157"/>
            <a:ext cx="2154184" cy="243780"/>
          </a:xfrm>
          <a:prstGeom prst="rect">
            <a:avLst/>
          </a:prstGeom>
          <a:noFill/>
          <a:ln/>
        </p:spPr>
        <p:txBody>
          <a:bodyPr wrap="none" lIns="0" tIns="0" rIns="0" bIns="0" rtlCol="0" anchor="t"/>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Trie</a:t>
            </a:r>
            <a:endParaRPr lang="en-US" sz="1600" dirty="0"/>
          </a:p>
        </p:txBody>
      </p:sp>
      <p:sp>
        <p:nvSpPr>
          <p:cNvPr id="11" name="Text 9"/>
          <p:cNvSpPr/>
          <p:nvPr/>
        </p:nvSpPr>
        <p:spPr>
          <a:xfrm>
            <a:off x="9017965" y="4109938"/>
            <a:ext cx="2382778" cy="257770"/>
          </a:xfrm>
          <a:prstGeom prst="rect">
            <a:avLst/>
          </a:prstGeom>
          <a:noFill/>
          <a:ln/>
        </p:spPr>
        <p:txBody>
          <a:bodyPr wrap="none" lIns="0" tIns="0" rIns="0" bIns="0" rtlCol="0" anchor="t"/>
          <a:lstStyle/>
          <a:p>
            <a:pPr marL="0" indent="0" algn="l">
              <a:lnSpc>
                <a:spcPct val="121000"/>
              </a:lnSpc>
              <a:buNone/>
            </a:pPr>
            <a:r>
              <a:rPr lang="en-US" sz="1400" dirty="0">
                <a:solidFill>
                  <a:srgbClr val="000000"/>
                </a:solidFill>
                <a:latin typeface="Geist" pitchFamily="34" charset="0"/>
                <a:ea typeface="Geist" pitchFamily="34" charset="-122"/>
                <a:cs typeface="Geist" pitchFamily="34" charset="-120"/>
              </a:rPr>
              <a:t>↓</a:t>
            </a:r>
            <a:endParaRPr lang="en-US" sz="1400" dirty="0"/>
          </a:p>
        </p:txBody>
      </p:sp>
      <p:sp>
        <p:nvSpPr>
          <p:cNvPr id="12" name="Text 10"/>
          <p:cNvSpPr/>
          <p:nvPr/>
        </p:nvSpPr>
        <p:spPr>
          <a:xfrm>
            <a:off x="9017965" y="4526458"/>
            <a:ext cx="2154184" cy="487561"/>
          </a:xfrm>
          <a:prstGeom prst="rect">
            <a:avLst/>
          </a:prstGeom>
          <a:noFill/>
          <a:ln/>
        </p:spPr>
        <p:txBody>
          <a:bodyPr wrap="square" lIns="0" tIns="0" rIns="0" bIns="0" rtlCol="0" anchor="t">
            <a:normAutofit lnSpcReduction="10000"/>
          </a:bodyPr>
          <a:lstStyle/>
          <a:p>
            <a:pPr marL="0" indent="0" algn="l">
              <a:lnSpc>
                <a:spcPct val="100000"/>
              </a:lnSpc>
              <a:buNone/>
            </a:pPr>
            <a:r>
              <a:rPr lang="en-US" sz="1600" dirty="0">
                <a:solidFill>
                  <a:srgbClr val="000000"/>
                </a:solidFill>
                <a:latin typeface="Geist SemiBold" pitchFamily="34" charset="0"/>
                <a:ea typeface="Geist SemiBold" pitchFamily="34" charset="-122"/>
                <a:cs typeface="Geist SemiBold" pitchFamily="34" charset="-120"/>
              </a:rPr>
              <a:t>Matching Prefix Suggestions</a:t>
            </a:r>
            <a:endParaRPr lang="en-US" sz="1600" dirty="0"/>
          </a:p>
        </p:txBody>
      </p:sp>
      <p:sp>
        <p:nvSpPr>
          <p:cNvPr id="13" name="Text 11"/>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07</a:t>
            </a:r>
            <a:endParaRPr lang="en-US" sz="1050" dirty="0"/>
          </a:p>
        </p:txBody>
      </p:sp>
      <p:pic>
        <p:nvPicPr>
          <p:cNvPr id="14" name="Picture 13">
            <a:extLst>
              <a:ext uri="{FF2B5EF4-FFF2-40B4-BE49-F238E27FC236}">
                <a16:creationId xmlns:a16="http://schemas.microsoft.com/office/drawing/2014/main" id="{5DC093F9-738B-BF4B-0011-CEDCDEFC4979}"/>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1646238"/>
            <a:ext cx="10972526" cy="548580"/>
          </a:xfrm>
          <a:prstGeom prst="rect">
            <a:avLst/>
          </a:prstGeom>
          <a:noFill/>
          <a:ln/>
        </p:spPr>
        <p:txBody>
          <a:bodyPr wrap="none" lIns="0" tIns="0" rIns="0" bIns="0" rtlCol="0" anchor="t"/>
          <a:lstStyle/>
          <a:p>
            <a:pPr marL="0" indent="0" algn="l">
              <a:lnSpc>
                <a:spcPct val="90000"/>
              </a:lnSpc>
              <a:buNone/>
            </a:pPr>
            <a:r>
              <a:rPr lang="en-US" sz="4000" kern="0" spc="-100" dirty="0">
                <a:solidFill>
                  <a:srgbClr val="0F1E26"/>
                </a:solidFill>
                <a:latin typeface="Geist Medium" pitchFamily="34" charset="0"/>
                <a:ea typeface="Geist Medium" pitchFamily="34" charset="-122"/>
                <a:cs typeface="Geist Medium" pitchFamily="34" charset="-120"/>
              </a:rPr>
              <a:t>Conclusion</a:t>
            </a:r>
            <a:endParaRPr lang="en-US" sz="4000" dirty="0"/>
          </a:p>
        </p:txBody>
      </p:sp>
      <p:sp>
        <p:nvSpPr>
          <p:cNvPr id="3" name="Text 1"/>
          <p:cNvSpPr/>
          <p:nvPr/>
        </p:nvSpPr>
        <p:spPr>
          <a:xfrm>
            <a:off x="609585" y="2372617"/>
            <a:ext cx="4709102" cy="2196505"/>
          </a:xfrm>
          <a:prstGeom prst="rect">
            <a:avLst/>
          </a:prstGeom>
          <a:noFill/>
          <a:ln/>
        </p:spPr>
        <p:txBody>
          <a:bodyPr wrap="square" lIns="0" tIns="0" rIns="0" bIns="0" rtlCol="0" anchor="t">
            <a:noAutofit/>
          </a:bodyPr>
          <a:lstStyle/>
          <a:p>
            <a:pPr marL="0" indent="0" algn="l">
              <a:lnSpc>
                <a:spcPct val="121000"/>
              </a:lnSpc>
              <a:buNone/>
            </a:pPr>
            <a:r>
              <a:rPr lang="en-US" sz="1750" dirty="0">
                <a:solidFill>
                  <a:srgbClr val="2A3A43"/>
                </a:solidFill>
                <a:latin typeface="Geist" pitchFamily="34" charset="0"/>
                <a:ea typeface="Geist" pitchFamily="34" charset="-122"/>
                <a:cs typeface="Geist" pitchFamily="34" charset="-120"/>
              </a:rPr>
              <a:t>IndicSearch shows how </a:t>
            </a:r>
            <a:r>
              <a:rPr lang="en-US" sz="1750" b="1" dirty="0">
                <a:solidFill>
                  <a:srgbClr val="2A3A43"/>
                </a:solidFill>
                <a:latin typeface="Geist Bold" pitchFamily="34" charset="0"/>
                <a:ea typeface="Geist Bold" pitchFamily="34" charset="-122"/>
                <a:cs typeface="Geist Bold" pitchFamily="34" charset="-120"/>
              </a:rPr>
              <a:t>HashMap</a:t>
            </a:r>
            <a:r>
              <a:rPr lang="en-US" sz="1750" dirty="0">
                <a:solidFill>
                  <a:srgbClr val="2A3A43"/>
                </a:solidFill>
                <a:latin typeface="Geist" pitchFamily="34" charset="0"/>
                <a:ea typeface="Geist" pitchFamily="34" charset="-122"/>
                <a:cs typeface="Geist" pitchFamily="34" charset="-120"/>
              </a:rPr>
              <a:t>, </a:t>
            </a:r>
            <a:r>
              <a:rPr lang="en-US" sz="1750" b="1" dirty="0">
                <a:solidFill>
                  <a:srgbClr val="2A3A43"/>
                </a:solidFill>
                <a:latin typeface="Geist Bold" pitchFamily="34" charset="0"/>
                <a:ea typeface="Geist Bold" pitchFamily="34" charset="-122"/>
                <a:cs typeface="Geist Bold" pitchFamily="34" charset="-120"/>
              </a:rPr>
              <a:t>Inverted Index</a:t>
            </a:r>
            <a:r>
              <a:rPr lang="en-US" sz="1750" dirty="0">
                <a:solidFill>
                  <a:srgbClr val="2A3A43"/>
                </a:solidFill>
                <a:latin typeface="Geist" pitchFamily="34" charset="0"/>
                <a:ea typeface="Geist" pitchFamily="34" charset="-122"/>
                <a:cs typeface="Geist" pitchFamily="34" charset="-120"/>
              </a:rPr>
              <a:t>, </a:t>
            </a:r>
            <a:r>
              <a:rPr lang="en-US" sz="1750" b="1" dirty="0">
                <a:solidFill>
                  <a:srgbClr val="2A3A43"/>
                </a:solidFill>
                <a:latin typeface="Geist Bold" pitchFamily="34" charset="0"/>
                <a:ea typeface="Geist Bold" pitchFamily="34" charset="-122"/>
                <a:cs typeface="Geist Bold" pitchFamily="34" charset="-120"/>
              </a:rPr>
              <a:t>Trie</a:t>
            </a:r>
            <a:r>
              <a:rPr lang="en-US" sz="1750" dirty="0">
                <a:solidFill>
                  <a:srgbClr val="2A3A43"/>
                </a:solidFill>
                <a:latin typeface="Geist" pitchFamily="34" charset="0"/>
                <a:ea typeface="Geist" pitchFamily="34" charset="-122"/>
                <a:cs typeface="Geist" pitchFamily="34" charset="-120"/>
              </a:rPr>
              <a:t>, and </a:t>
            </a:r>
            <a:r>
              <a:rPr lang="en-US" sz="1750" b="1" dirty="0">
                <a:solidFill>
                  <a:srgbClr val="2A3A43"/>
                </a:solidFill>
                <a:latin typeface="Geist Bold" pitchFamily="34" charset="0"/>
                <a:ea typeface="Geist Bold" pitchFamily="34" charset="-122"/>
                <a:cs typeface="Geist Bold" pitchFamily="34" charset="-120"/>
              </a:rPr>
              <a:t>Merge Sort</a:t>
            </a:r>
            <a:r>
              <a:rPr lang="en-US" sz="1750" dirty="0">
                <a:solidFill>
                  <a:srgbClr val="2A3A43"/>
                </a:solidFill>
                <a:latin typeface="Geist" pitchFamily="34" charset="0"/>
                <a:ea typeface="Geist" pitchFamily="34" charset="-122"/>
                <a:cs typeface="Geist" pitchFamily="34" charset="-120"/>
              </a:rPr>
              <a:t> can support structured storage, efficient keyword retrieval, prefix suggestions, and frequency-based ranking over real Wikipedia data accessed through an API.</a:t>
            </a:r>
            <a:endParaRPr lang="en-US" sz="1750" dirty="0"/>
          </a:p>
        </p:txBody>
      </p:sp>
      <p:sp>
        <p:nvSpPr>
          <p:cNvPr id="4" name="Text 2"/>
          <p:cNvSpPr/>
          <p:nvPr/>
        </p:nvSpPr>
        <p:spPr>
          <a:xfrm>
            <a:off x="5780546" y="1687364"/>
            <a:ext cx="5806334" cy="466328"/>
          </a:xfrm>
          <a:prstGeom prst="rect">
            <a:avLst/>
          </a:prstGeom>
          <a:noFill/>
          <a:ln/>
        </p:spPr>
        <p:txBody>
          <a:bodyPr wrap="none" lIns="0" tIns="0" rIns="0" bIns="0" rtlCol="0" anchor="t"/>
          <a:lstStyle/>
          <a:p>
            <a:pPr marL="0" indent="0" algn="l">
              <a:lnSpc>
                <a:spcPct val="90000"/>
              </a:lnSpc>
              <a:buNone/>
            </a:pPr>
            <a:r>
              <a:rPr lang="en-US" sz="3400" kern="0" spc="-85" dirty="0">
                <a:solidFill>
                  <a:srgbClr val="0F1E26"/>
                </a:solidFill>
                <a:latin typeface="Geist Medium" pitchFamily="34" charset="0"/>
                <a:ea typeface="Geist Medium" pitchFamily="34" charset="-122"/>
                <a:cs typeface="Geist Medium" pitchFamily="34" charset="-120"/>
              </a:rPr>
              <a:t>Future Scope</a:t>
            </a:r>
            <a:endParaRPr lang="en-US" sz="3400" dirty="0"/>
          </a:p>
        </p:txBody>
      </p:sp>
      <p:sp>
        <p:nvSpPr>
          <p:cNvPr id="5" name="Text 3"/>
          <p:cNvSpPr/>
          <p:nvPr/>
        </p:nvSpPr>
        <p:spPr>
          <a:xfrm>
            <a:off x="5775677" y="2390548"/>
            <a:ext cx="5806434" cy="1859266"/>
          </a:xfrm>
          <a:prstGeom prst="rect">
            <a:avLst/>
          </a:prstGeom>
          <a:noFill/>
          <a:ln/>
        </p:spPr>
        <p:txBody>
          <a:bodyPr wrap="square" lIns="0" tIns="0" rIns="0" bIns="0" rtlCol="0" anchor="t">
            <a:normAutofit/>
          </a:bodyPr>
          <a:lstStyle/>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Support a larger locally indexed multilingual corpus.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Improve ranking with additional relevance factors.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Add more Indian languages.</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Improve autocomplete and query understanding.</a:t>
            </a:r>
            <a:endParaRPr lang="en-US" sz="1750" dirty="0"/>
          </a:p>
          <a:p>
            <a:pPr marL="284480" indent="-284480" algn="l">
              <a:lnSpc>
                <a:spcPct val="121000"/>
              </a:lnSpc>
              <a:buSzPct val="100000"/>
              <a:buChar char="•"/>
            </a:pPr>
            <a:r>
              <a:rPr lang="en-US" sz="1750" dirty="0">
                <a:solidFill>
                  <a:srgbClr val="2A3A43"/>
                </a:solidFill>
                <a:latin typeface="Geist" pitchFamily="34" charset="0"/>
                <a:ea typeface="Geist" pitchFamily="34" charset="-122"/>
                <a:cs typeface="Geist" pitchFamily="34" charset="-120"/>
              </a:rPr>
              <a:t>Introduce caching for faster repeated searches.</a:t>
            </a:r>
            <a:endParaRPr lang="en-US" sz="1750" dirty="0"/>
          </a:p>
        </p:txBody>
      </p:sp>
      <p:sp>
        <p:nvSpPr>
          <p:cNvPr id="21" name="Shape 19"/>
          <p:cNvSpPr/>
          <p:nvPr/>
        </p:nvSpPr>
        <p:spPr>
          <a:xfrm>
            <a:off x="5517858" y="1309704"/>
            <a:ext cx="78733" cy="3353479"/>
          </a:xfrm>
          <a:prstGeom prst="rect">
            <a:avLst/>
          </a:prstGeom>
          <a:solidFill>
            <a:srgbClr val="B7C3C9"/>
          </a:solidFill>
          <a:ln/>
        </p:spPr>
      </p:sp>
      <p:sp>
        <p:nvSpPr>
          <p:cNvPr id="22" name="Text 20"/>
          <p:cNvSpPr/>
          <p:nvPr/>
        </p:nvSpPr>
        <p:spPr>
          <a:xfrm>
            <a:off x="11400743" y="6456561"/>
            <a:ext cx="790952" cy="193278"/>
          </a:xfrm>
          <a:prstGeom prst="rect">
            <a:avLst/>
          </a:prstGeom>
          <a:noFill/>
          <a:ln/>
        </p:spPr>
        <p:txBody>
          <a:bodyPr wrap="none" lIns="0" tIns="0" rIns="0" bIns="0" rtlCol="0" anchor="ctr"/>
          <a:lstStyle/>
          <a:p>
            <a:pPr marL="0" indent="0" algn="l">
              <a:lnSpc>
                <a:spcPct val="121000"/>
              </a:lnSpc>
              <a:buNone/>
            </a:pPr>
            <a:r>
              <a:rPr lang="en-US" sz="1050" kern="0" spc="84" dirty="0">
                <a:solidFill>
                  <a:srgbClr val="55656E"/>
                </a:solidFill>
                <a:latin typeface="Geist Mono" pitchFamily="34" charset="0"/>
                <a:ea typeface="Geist Mono" pitchFamily="34" charset="-122"/>
                <a:cs typeface="Geist Mono" pitchFamily="34" charset="-120"/>
              </a:rPr>
              <a:t>08</a:t>
            </a:r>
            <a:endParaRPr lang="en-US" sz="1050" dirty="0"/>
          </a:p>
        </p:txBody>
      </p:sp>
      <p:pic>
        <p:nvPicPr>
          <p:cNvPr id="23" name="Picture 22">
            <a:extLst>
              <a:ext uri="{FF2B5EF4-FFF2-40B4-BE49-F238E27FC236}">
                <a16:creationId xmlns:a16="http://schemas.microsoft.com/office/drawing/2014/main" id="{4E8E19AD-E18C-3A7C-CBA8-0232B8388F68}"/>
              </a:ext>
            </a:extLst>
          </p:cNvPr>
          <p:cNvPicPr>
            <a:picLocks noChangeAspect="1"/>
          </p:cNvPicPr>
          <p:nvPr/>
        </p:nvPicPr>
        <p:blipFill>
          <a:blip r:embed="rId3"/>
          <a:stretch>
            <a:fillRect/>
          </a:stretch>
        </p:blipFill>
        <p:spPr>
          <a:xfrm>
            <a:off x="10635528" y="6497043"/>
            <a:ext cx="1530429" cy="3238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70BA20-2A2C-C127-09E8-61FBEBB7C412}"/>
              </a:ext>
            </a:extLst>
          </p:cNvPr>
          <p:cNvSpPr txBox="1"/>
          <p:nvPr/>
        </p:nvSpPr>
        <p:spPr>
          <a:xfrm>
            <a:off x="4465469" y="2967335"/>
            <a:ext cx="3773010" cy="923330"/>
          </a:xfrm>
          <a:prstGeom prst="rect">
            <a:avLst/>
          </a:prstGeom>
          <a:noFill/>
        </p:spPr>
        <p:txBody>
          <a:bodyPr wrap="square" rtlCol="0">
            <a:spAutoFit/>
          </a:bodyPr>
          <a:lstStyle/>
          <a:p>
            <a:r>
              <a:rPr lang="en-GB" sz="5400" dirty="0"/>
              <a:t>THANK YOU</a:t>
            </a:r>
          </a:p>
        </p:txBody>
      </p:sp>
      <p:pic>
        <p:nvPicPr>
          <p:cNvPr id="3" name="Picture 2">
            <a:extLst>
              <a:ext uri="{FF2B5EF4-FFF2-40B4-BE49-F238E27FC236}">
                <a16:creationId xmlns:a16="http://schemas.microsoft.com/office/drawing/2014/main" id="{F53FADFF-BA4A-6029-E578-371A562EA589}"/>
              </a:ext>
            </a:extLst>
          </p:cNvPr>
          <p:cNvPicPr>
            <a:picLocks noChangeAspect="1"/>
          </p:cNvPicPr>
          <p:nvPr/>
        </p:nvPicPr>
        <p:blipFill>
          <a:blip r:embed="rId2"/>
          <a:stretch>
            <a:fillRect/>
          </a:stretch>
        </p:blipFill>
        <p:spPr>
          <a:xfrm>
            <a:off x="10635528" y="6497043"/>
            <a:ext cx="1530429" cy="323867"/>
          </a:xfrm>
          <a:prstGeom prst="rect">
            <a:avLst/>
          </a:prstGeom>
        </p:spPr>
      </p:pic>
    </p:spTree>
    <p:extLst>
      <p:ext uri="{BB962C8B-B14F-4D97-AF65-F5344CB8AC3E}">
        <p14:creationId xmlns:p14="http://schemas.microsoft.com/office/powerpoint/2010/main" val="2305725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1141</Words>
  <Application>Microsoft Office PowerPoint</Application>
  <PresentationFormat>Widescreen</PresentationFormat>
  <Paragraphs>183</Paragraphs>
  <Slides>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Geist SemiBold</vt:lpstr>
      <vt:lpstr>Arial</vt:lpstr>
      <vt:lpstr>Geist</vt:lpstr>
      <vt:lpstr>Consolas</vt:lpstr>
      <vt:lpstr>Geist Medium</vt:lpstr>
      <vt:lpstr>Geist Mono</vt:lpstr>
      <vt:lpstr>Geist Mono Medium</vt:lpstr>
      <vt:lpstr>Geist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gutha sushma sree</cp:lastModifiedBy>
  <cp:revision>3</cp:revision>
  <dcterms:created xsi:type="dcterms:W3CDTF">2026-09-29T06:24:24Z</dcterms:created>
  <dcterms:modified xsi:type="dcterms:W3CDTF">2026-09-30T15:16:07Z</dcterms:modified>
</cp:coreProperties>
</file>